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65" r:id="rId2"/>
    <p:sldId id="257" r:id="rId3"/>
    <p:sldId id="256" r:id="rId4"/>
    <p:sldId id="258" r:id="rId5"/>
    <p:sldId id="259" r:id="rId6"/>
    <p:sldId id="264" r:id="rId7"/>
    <p:sldId id="262" r:id="rId8"/>
    <p:sldId id="260" r:id="rId9"/>
    <p:sldId id="261" r:id="rId10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28" d="100"/>
          <a:sy n="128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36DBF-C0DA-3341-8ADE-33660E8D97CE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1A302-EAAD-604A-BC7E-656AA0E53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99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3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4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8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4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0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1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9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2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9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7296-98E2-144D-9918-2661B681BC93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BAD94-7009-A94B-8C17-3072C54B9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0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8A50-986A-1E5C-1B6F-00D55BAF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06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2DE1-0B51-AE00-68D9-E9416730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Arbitrary-sized data</a:t>
            </a:r>
          </a:p>
          <a:p>
            <a:pPr lvl="1"/>
            <a:r>
              <a:rPr lang="en-US" dirty="0"/>
              <a:t>All my favorite hocky teams (L06)</a:t>
            </a:r>
          </a:p>
          <a:p>
            <a:pPr lvl="1"/>
            <a:r>
              <a:rPr lang="en-US" dirty="0"/>
              <a:t>All the eggs falling around Mario (L07)</a:t>
            </a:r>
          </a:p>
          <a:p>
            <a:pPr lvl="1"/>
            <a:r>
              <a:rPr lang="en-US" dirty="0"/>
              <a:t>All the balls bouncing around the box (</a:t>
            </a:r>
            <a:r>
              <a:rPr lang="en-US" dirty="0" err="1"/>
              <a:t>Pset</a:t>
            </a:r>
            <a:r>
              <a:rPr lang="en-US" dirty="0"/>
              <a:t> 4)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Self-referential type comments</a:t>
            </a:r>
          </a:p>
          <a:p>
            <a:r>
              <a:rPr lang="en-US" dirty="0"/>
              <a:t>Naturally recursive functions</a:t>
            </a:r>
          </a:p>
          <a:p>
            <a:endParaRPr lang="en-US" dirty="0"/>
          </a:p>
          <a:p>
            <a:r>
              <a:rPr lang="en-US" dirty="0"/>
              <a:t>Sound theory makes it easy to understand functions that might otherwise be confusing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67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107C35-3086-F170-D5DB-3048FF278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0" y="342900"/>
            <a:ext cx="64897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1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107C35-3086-F170-D5DB-3048FF278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0" y="342900"/>
            <a:ext cx="6489700" cy="61722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6A4C3B91-E6BE-E706-E011-C959D617DEB9}"/>
              </a:ext>
            </a:extLst>
          </p:cNvPr>
          <p:cNvSpPr/>
          <p:nvPr/>
        </p:nvSpPr>
        <p:spPr>
          <a:xfrm>
            <a:off x="3521411" y="735436"/>
            <a:ext cx="3217681" cy="1657570"/>
          </a:xfrm>
          <a:custGeom>
            <a:avLst/>
            <a:gdLst>
              <a:gd name="connsiteX0" fmla="*/ 2490280 w 3149392"/>
              <a:gd name="connsiteY0" fmla="*/ 1314857 h 1314857"/>
              <a:gd name="connsiteX1" fmla="*/ 2986391 w 3149392"/>
              <a:gd name="connsiteY1" fmla="*/ 118354 h 1314857"/>
              <a:gd name="connsiteX2" fmla="*/ 0 w 3149392"/>
              <a:gd name="connsiteY2" fmla="*/ 108627 h 1314857"/>
              <a:gd name="connsiteX0" fmla="*/ 2490280 w 3102386"/>
              <a:gd name="connsiteY0" fmla="*/ 1434350 h 1434350"/>
              <a:gd name="connsiteX1" fmla="*/ 2927707 w 3102386"/>
              <a:gd name="connsiteY1" fmla="*/ 74511 h 1434350"/>
              <a:gd name="connsiteX2" fmla="*/ 0 w 3102386"/>
              <a:gd name="connsiteY2" fmla="*/ 228120 h 1434350"/>
              <a:gd name="connsiteX0" fmla="*/ 1932779 w 3029837"/>
              <a:gd name="connsiteY0" fmla="*/ 1369016 h 1369016"/>
              <a:gd name="connsiteX1" fmla="*/ 2927707 w 3029837"/>
              <a:gd name="connsiteY1" fmla="*/ 74511 h 1369016"/>
              <a:gd name="connsiteX2" fmla="*/ 0 w 3029837"/>
              <a:gd name="connsiteY2" fmla="*/ 228120 h 1369016"/>
              <a:gd name="connsiteX0" fmla="*/ 2138174 w 3235232"/>
              <a:gd name="connsiteY0" fmla="*/ 1357951 h 1357951"/>
              <a:gd name="connsiteX1" fmla="*/ 3133102 w 3235232"/>
              <a:gd name="connsiteY1" fmla="*/ 63446 h 1357951"/>
              <a:gd name="connsiteX2" fmla="*/ 0 w 3235232"/>
              <a:gd name="connsiteY2" fmla="*/ 290557 h 1357951"/>
              <a:gd name="connsiteX0" fmla="*/ 2138174 w 3235232"/>
              <a:gd name="connsiteY0" fmla="*/ 1391605 h 1391605"/>
              <a:gd name="connsiteX1" fmla="*/ 3133102 w 3235232"/>
              <a:gd name="connsiteY1" fmla="*/ 97100 h 1391605"/>
              <a:gd name="connsiteX2" fmla="*/ 0 w 3235232"/>
              <a:gd name="connsiteY2" fmla="*/ 324211 h 1391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5232" h="1391605">
                <a:moveTo>
                  <a:pt x="2138174" y="1391605"/>
                </a:moveTo>
                <a:cubicBezTo>
                  <a:pt x="2593753" y="893872"/>
                  <a:pt x="3548149" y="298138"/>
                  <a:pt x="3133102" y="97100"/>
                </a:cubicBezTo>
                <a:cubicBezTo>
                  <a:pt x="2718055" y="-103938"/>
                  <a:pt x="1178083" y="24385"/>
                  <a:pt x="0" y="324211"/>
                </a:cubicBezTo>
              </a:path>
            </a:pathLst>
          </a:custGeom>
          <a:noFill/>
          <a:ln w="28575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596B0-F488-D01E-E278-B38376653347}"/>
              </a:ext>
            </a:extLst>
          </p:cNvPr>
          <p:cNvSpPr txBox="1"/>
          <p:nvPr/>
        </p:nvSpPr>
        <p:spPr>
          <a:xfrm>
            <a:off x="6495900" y="1302611"/>
            <a:ext cx="2194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self reference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290A26B-5374-BC49-B34B-D51E43CC0480}"/>
              </a:ext>
            </a:extLst>
          </p:cNvPr>
          <p:cNvSpPr/>
          <p:nvPr/>
        </p:nvSpPr>
        <p:spPr>
          <a:xfrm>
            <a:off x="4101829" y="3161969"/>
            <a:ext cx="2079568" cy="2817302"/>
          </a:xfrm>
          <a:custGeom>
            <a:avLst/>
            <a:gdLst>
              <a:gd name="connsiteX0" fmla="*/ 2490280 w 3149392"/>
              <a:gd name="connsiteY0" fmla="*/ 1314857 h 1314857"/>
              <a:gd name="connsiteX1" fmla="*/ 2986391 w 3149392"/>
              <a:gd name="connsiteY1" fmla="*/ 118354 h 1314857"/>
              <a:gd name="connsiteX2" fmla="*/ 0 w 3149392"/>
              <a:gd name="connsiteY2" fmla="*/ 108627 h 1314857"/>
              <a:gd name="connsiteX0" fmla="*/ 2490280 w 3102386"/>
              <a:gd name="connsiteY0" fmla="*/ 1434350 h 1434350"/>
              <a:gd name="connsiteX1" fmla="*/ 2927707 w 3102386"/>
              <a:gd name="connsiteY1" fmla="*/ 74511 h 1434350"/>
              <a:gd name="connsiteX2" fmla="*/ 0 w 3102386"/>
              <a:gd name="connsiteY2" fmla="*/ 228120 h 1434350"/>
              <a:gd name="connsiteX0" fmla="*/ 1932779 w 3029837"/>
              <a:gd name="connsiteY0" fmla="*/ 1369016 h 1369016"/>
              <a:gd name="connsiteX1" fmla="*/ 2927707 w 3029837"/>
              <a:gd name="connsiteY1" fmla="*/ 74511 h 1369016"/>
              <a:gd name="connsiteX2" fmla="*/ 0 w 3029837"/>
              <a:gd name="connsiteY2" fmla="*/ 228120 h 1369016"/>
              <a:gd name="connsiteX0" fmla="*/ 2138174 w 3235232"/>
              <a:gd name="connsiteY0" fmla="*/ 1357951 h 1357951"/>
              <a:gd name="connsiteX1" fmla="*/ 3133102 w 3235232"/>
              <a:gd name="connsiteY1" fmla="*/ 63446 h 1357951"/>
              <a:gd name="connsiteX2" fmla="*/ 0 w 3235232"/>
              <a:gd name="connsiteY2" fmla="*/ 290557 h 1357951"/>
              <a:gd name="connsiteX0" fmla="*/ 2138174 w 3235232"/>
              <a:gd name="connsiteY0" fmla="*/ 1391605 h 1391605"/>
              <a:gd name="connsiteX1" fmla="*/ 3133102 w 3235232"/>
              <a:gd name="connsiteY1" fmla="*/ 97100 h 1391605"/>
              <a:gd name="connsiteX2" fmla="*/ 0 w 3235232"/>
              <a:gd name="connsiteY2" fmla="*/ 324211 h 1391605"/>
              <a:gd name="connsiteX0" fmla="*/ 1101418 w 2198476"/>
              <a:gd name="connsiteY0" fmla="*/ 2234540 h 2234540"/>
              <a:gd name="connsiteX1" fmla="*/ 2096346 w 2198476"/>
              <a:gd name="connsiteY1" fmla="*/ 940035 h 2234540"/>
              <a:gd name="connsiteX2" fmla="*/ 0 w 2198476"/>
              <a:gd name="connsiteY2" fmla="*/ 56460 h 2234540"/>
              <a:gd name="connsiteX0" fmla="*/ 1101418 w 2064634"/>
              <a:gd name="connsiteY0" fmla="*/ 2367030 h 2367030"/>
              <a:gd name="connsiteX1" fmla="*/ 1949635 w 2064634"/>
              <a:gd name="connsiteY1" fmla="*/ 190510 h 2367030"/>
              <a:gd name="connsiteX2" fmla="*/ 0 w 2064634"/>
              <a:gd name="connsiteY2" fmla="*/ 188950 h 2367030"/>
              <a:gd name="connsiteX0" fmla="*/ 1101418 w 2064634"/>
              <a:gd name="connsiteY0" fmla="*/ 2433327 h 2433327"/>
              <a:gd name="connsiteX1" fmla="*/ 1949635 w 2064634"/>
              <a:gd name="connsiteY1" fmla="*/ 256807 h 2433327"/>
              <a:gd name="connsiteX2" fmla="*/ 0 w 2064634"/>
              <a:gd name="connsiteY2" fmla="*/ 255247 h 2433327"/>
              <a:gd name="connsiteX0" fmla="*/ 1101418 w 2064634"/>
              <a:gd name="connsiteY0" fmla="*/ 2378526 h 2378526"/>
              <a:gd name="connsiteX1" fmla="*/ 1949635 w 2064634"/>
              <a:gd name="connsiteY1" fmla="*/ 202006 h 2378526"/>
              <a:gd name="connsiteX2" fmla="*/ 0 w 2064634"/>
              <a:gd name="connsiteY2" fmla="*/ 200446 h 2378526"/>
              <a:gd name="connsiteX0" fmla="*/ 1101418 w 2090912"/>
              <a:gd name="connsiteY0" fmla="*/ 2378526 h 2378526"/>
              <a:gd name="connsiteX1" fmla="*/ 1949635 w 2090912"/>
              <a:gd name="connsiteY1" fmla="*/ 202006 h 2378526"/>
              <a:gd name="connsiteX2" fmla="*/ 0 w 2090912"/>
              <a:gd name="connsiteY2" fmla="*/ 200446 h 2378526"/>
              <a:gd name="connsiteX0" fmla="*/ 1101418 w 2090912"/>
              <a:gd name="connsiteY0" fmla="*/ 2365252 h 2365252"/>
              <a:gd name="connsiteX1" fmla="*/ 1949635 w 2090912"/>
              <a:gd name="connsiteY1" fmla="*/ 188732 h 2365252"/>
              <a:gd name="connsiteX2" fmla="*/ 0 w 2090912"/>
              <a:gd name="connsiteY2" fmla="*/ 187172 h 236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90912" h="2365252">
                <a:moveTo>
                  <a:pt x="1101418" y="2365252"/>
                </a:moveTo>
                <a:cubicBezTo>
                  <a:pt x="1556997" y="1867519"/>
                  <a:pt x="2433147" y="553106"/>
                  <a:pt x="1949635" y="188732"/>
                </a:cubicBezTo>
                <a:cubicBezTo>
                  <a:pt x="1182482" y="-191976"/>
                  <a:pt x="346722" y="107850"/>
                  <a:pt x="0" y="187172"/>
                </a:cubicBezTo>
              </a:path>
            </a:pathLst>
          </a:custGeom>
          <a:noFill/>
          <a:ln w="28575"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B6EC61-8DD8-C742-E57E-514765925093}"/>
              </a:ext>
            </a:extLst>
          </p:cNvPr>
          <p:cNvSpPr txBox="1"/>
          <p:nvPr/>
        </p:nvSpPr>
        <p:spPr>
          <a:xfrm>
            <a:off x="6059244" y="4464995"/>
            <a:ext cx="2896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natural recursion</a:t>
            </a:r>
          </a:p>
        </p:txBody>
      </p:sp>
    </p:spTree>
    <p:extLst>
      <p:ext uri="{BB962C8B-B14F-4D97-AF65-F5344CB8AC3E}">
        <p14:creationId xmlns:p14="http://schemas.microsoft.com/office/powerpoint/2010/main" val="93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AD5096-C207-7172-3219-9CD229104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3561"/>
            <a:ext cx="7772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2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E782D-3091-7AE6-BC72-75594704B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3551"/>
            <a:ext cx="7772400" cy="41148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E7CFBA-EA6A-D98F-0D7E-E3302DA565A8}"/>
              </a:ext>
            </a:extLst>
          </p:cNvPr>
          <p:cNvCxnSpPr/>
          <p:nvPr/>
        </p:nvCxnSpPr>
        <p:spPr>
          <a:xfrm flipH="1">
            <a:off x="4834647" y="3628419"/>
            <a:ext cx="1128408" cy="3501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92AD9C-AD6F-9EA4-966F-2C03C7B3936B}"/>
              </a:ext>
            </a:extLst>
          </p:cNvPr>
          <p:cNvSpPr txBox="1"/>
          <p:nvPr/>
        </p:nvSpPr>
        <p:spPr>
          <a:xfrm>
            <a:off x="6113497" y="3366809"/>
            <a:ext cx="2583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 case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C7FCF-B4C7-EA8C-40C5-E242D61DD1E4}"/>
              </a:ext>
            </a:extLst>
          </p:cNvPr>
          <p:cNvSpPr txBox="1"/>
          <p:nvPr/>
        </p:nvSpPr>
        <p:spPr>
          <a:xfrm>
            <a:off x="6113497" y="4362061"/>
            <a:ext cx="2583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combination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C0F68D-E3D4-7E32-0E7A-263D8C590819}"/>
              </a:ext>
            </a:extLst>
          </p:cNvPr>
          <p:cNvCxnSpPr>
            <a:cxnSpLocks/>
          </p:cNvCxnSpPr>
          <p:nvPr/>
        </p:nvCxnSpPr>
        <p:spPr>
          <a:xfrm flipH="1">
            <a:off x="2604412" y="4562633"/>
            <a:ext cx="3270757" cy="6413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C7BFB41-CC08-09C1-1286-17AB1FE85F53}"/>
              </a:ext>
            </a:extLst>
          </p:cNvPr>
          <p:cNvSpPr txBox="1"/>
          <p:nvPr/>
        </p:nvSpPr>
        <p:spPr>
          <a:xfrm>
            <a:off x="2141216" y="220946"/>
            <a:ext cx="4699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Trusting the Natural Recursion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FC301-84C4-1E2A-DCCA-00138538A355}"/>
              </a:ext>
            </a:extLst>
          </p:cNvPr>
          <p:cNvSpPr txBox="1"/>
          <p:nvPr/>
        </p:nvSpPr>
        <p:spPr>
          <a:xfrm>
            <a:off x="282102" y="822811"/>
            <a:ext cx="88618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result of natural recursion (RNR) will be correct </a:t>
            </a:r>
            <a:r>
              <a:rPr lang="en-US" sz="2400" u="sng" dirty="0">
                <a:solidFill>
                  <a:srgbClr val="FF0000"/>
                </a:solidFill>
              </a:rPr>
              <a:t>if and only if 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  - correct base case result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- correct contribution of first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- correct combination of contribution and RNR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41E396-D07A-0983-8BAB-7C60D55EC46C}"/>
              </a:ext>
            </a:extLst>
          </p:cNvPr>
          <p:cNvSpPr txBox="1"/>
          <p:nvPr/>
        </p:nvSpPr>
        <p:spPr>
          <a:xfrm>
            <a:off x="6113497" y="3838643"/>
            <a:ext cx="3190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correct result for empty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EFFB8B-72E5-23D6-2D1C-19E31BFECE25}"/>
              </a:ext>
            </a:extLst>
          </p:cNvPr>
          <p:cNvSpPr txBox="1"/>
          <p:nvPr/>
        </p:nvSpPr>
        <p:spPr>
          <a:xfrm>
            <a:off x="6113497" y="4839278"/>
            <a:ext cx="3190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combine (first </a:t>
            </a:r>
            <a:r>
              <a:rPr lang="en-US" dirty="0" err="1"/>
              <a:t>los</a:t>
            </a:r>
            <a:r>
              <a:rPr lang="en-US" dirty="0"/>
              <a:t>) and result of natural recursion</a:t>
            </a:r>
          </a:p>
        </p:txBody>
      </p:sp>
    </p:spTree>
    <p:extLst>
      <p:ext uri="{BB962C8B-B14F-4D97-AF65-F5344CB8AC3E}">
        <p14:creationId xmlns:p14="http://schemas.microsoft.com/office/powerpoint/2010/main" val="35301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BD00E-FEAB-9C18-4685-46893BE06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3745"/>
          <a:stretch/>
        </p:blipFill>
        <p:spPr>
          <a:xfrm>
            <a:off x="826174" y="2431753"/>
            <a:ext cx="4533766" cy="19944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9F2DA-8B98-18C8-D933-9293B29AA5A8}"/>
              </a:ext>
            </a:extLst>
          </p:cNvPr>
          <p:cNvSpPr txBox="1"/>
          <p:nvPr/>
        </p:nvSpPr>
        <p:spPr>
          <a:xfrm>
            <a:off x="4790874" y="3383072"/>
            <a:ext cx="288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 or more base subclass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55FB3-D0F0-064F-E685-FA25048C42AF}"/>
              </a:ext>
            </a:extLst>
          </p:cNvPr>
          <p:cNvSpPr txBox="1"/>
          <p:nvPr/>
        </p:nvSpPr>
        <p:spPr>
          <a:xfrm>
            <a:off x="4790873" y="3824443"/>
            <a:ext cx="417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 or more self-reference subclasses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03BAA-5AC0-5DE2-E02E-3FDA397D5E01}"/>
              </a:ext>
            </a:extLst>
          </p:cNvPr>
          <p:cNvSpPr txBox="1"/>
          <p:nvPr/>
        </p:nvSpPr>
        <p:spPr>
          <a:xfrm>
            <a:off x="264270" y="1530643"/>
            <a:ext cx="847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arbitrary-sized information -&gt; requires well-formed self-referential data 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1C69F-3145-EFF7-4C8B-88F04B37F4C5}"/>
              </a:ext>
            </a:extLst>
          </p:cNvPr>
          <p:cNvSpPr txBox="1"/>
          <p:nvPr/>
        </p:nvSpPr>
        <p:spPr>
          <a:xfrm>
            <a:off x="4790874" y="2932517"/>
            <a:ext cx="288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one of with:</a:t>
            </a:r>
          </a:p>
        </p:txBody>
      </p:sp>
    </p:spTree>
    <p:extLst>
      <p:ext uri="{BB962C8B-B14F-4D97-AF65-F5344CB8AC3E}">
        <p14:creationId xmlns:p14="http://schemas.microsoft.com/office/powerpoint/2010/main" val="71801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7E96E2-9616-EF07-4D07-1E4DCB6D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3243"/>
            <a:ext cx="7772400" cy="52300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9F2DA-8B98-18C8-D933-9293B29AA5A8}"/>
              </a:ext>
            </a:extLst>
          </p:cNvPr>
          <p:cNvSpPr txBox="1"/>
          <p:nvPr/>
        </p:nvSpPr>
        <p:spPr>
          <a:xfrm>
            <a:off x="5530174" y="670886"/>
            <a:ext cx="237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test base case first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55FB3-D0F0-064F-E685-FA25048C42AF}"/>
              </a:ext>
            </a:extLst>
          </p:cNvPr>
          <p:cNvSpPr txBox="1"/>
          <p:nvPr/>
        </p:nvSpPr>
        <p:spPr>
          <a:xfrm>
            <a:off x="4969213" y="1966525"/>
            <a:ext cx="417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test 2 long</a:t>
            </a:r>
          </a:p>
          <a:p>
            <a:r>
              <a:rPr lang="en-US" dirty="0">
                <a:solidFill>
                  <a:srgbClr val="FF0000"/>
                </a:solidFill>
              </a:rPr>
              <a:t>test recursion on both sides of conditional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A63C8-DFEE-A7F2-9F25-4E007855E403}"/>
              </a:ext>
            </a:extLst>
          </p:cNvPr>
          <p:cNvSpPr txBox="1"/>
          <p:nvPr/>
        </p:nvSpPr>
        <p:spPr>
          <a:xfrm>
            <a:off x="4790874" y="3539163"/>
            <a:ext cx="417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rename natural recursion when templating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E15A1C-8DF6-F4F4-298A-5CD10F9F479A}"/>
              </a:ext>
            </a:extLst>
          </p:cNvPr>
          <p:cNvSpPr txBox="1"/>
          <p:nvPr/>
        </p:nvSpPr>
        <p:spPr>
          <a:xfrm>
            <a:off x="2431105" y="5576258"/>
            <a:ext cx="5076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can "trust the natural recursion” if and only if: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- correct base case result</a:t>
            </a:r>
          </a:p>
          <a:p>
            <a:r>
              <a:rPr lang="en-US" dirty="0">
                <a:solidFill>
                  <a:srgbClr val="FF0000"/>
                </a:solidFill>
              </a:rPr>
              <a:t>   - correct contribution of first</a:t>
            </a:r>
          </a:p>
          <a:p>
            <a:r>
              <a:rPr lang="en-US" dirty="0">
                <a:solidFill>
                  <a:srgbClr val="FF0000"/>
                </a:solidFill>
              </a:rPr>
              <a:t>   - </a:t>
            </a:r>
            <a:r>
              <a:rPr lang="en-US" dirty="0" err="1">
                <a:solidFill>
                  <a:srgbClr val="FF0000"/>
                </a:solidFill>
              </a:rPr>
              <a:t>correc</a:t>
            </a:r>
            <a:r>
              <a:rPr lang="en-US" dirty="0">
                <a:solidFill>
                  <a:srgbClr val="FF0000"/>
                </a:solidFill>
              </a:rPr>
              <a:t> combination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03BAA-5AC0-5DE2-E02E-3FDA397D5E01}"/>
              </a:ext>
            </a:extLst>
          </p:cNvPr>
          <p:cNvSpPr txBox="1"/>
          <p:nvPr/>
        </p:nvSpPr>
        <p:spPr>
          <a:xfrm>
            <a:off x="264270" y="42150"/>
            <a:ext cx="847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arbitrary-sized information -&gt; requires self-referential data definition</a:t>
            </a:r>
          </a:p>
        </p:txBody>
      </p:sp>
    </p:spTree>
    <p:extLst>
      <p:ext uri="{BB962C8B-B14F-4D97-AF65-F5344CB8AC3E}">
        <p14:creationId xmlns:p14="http://schemas.microsoft.com/office/powerpoint/2010/main" val="273724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7AAE944-9B9E-2A1A-9543-DA8D9574F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462439"/>
              </p:ext>
            </p:extLst>
          </p:nvPr>
        </p:nvGraphicFramePr>
        <p:xfrm>
          <a:off x="428016" y="1397000"/>
          <a:ext cx="8482519" cy="2590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50980">
                  <a:extLst>
                    <a:ext uri="{9D8B030D-6E8A-4147-A177-3AD203B41FA5}">
                      <a16:colId xmlns:a16="http://schemas.microsoft.com/office/drawing/2014/main" val="167768130"/>
                    </a:ext>
                  </a:extLst>
                </a:gridCol>
                <a:gridCol w="2791838">
                  <a:extLst>
                    <a:ext uri="{9D8B030D-6E8A-4147-A177-3AD203B41FA5}">
                      <a16:colId xmlns:a16="http://schemas.microsoft.com/office/drawing/2014/main" val="2579470436"/>
                    </a:ext>
                  </a:extLst>
                </a:gridCol>
                <a:gridCol w="3939701">
                  <a:extLst>
                    <a:ext uri="{9D8B030D-6E8A-4147-A177-3AD203B41FA5}">
                      <a16:colId xmlns:a16="http://schemas.microsoft.com/office/drawing/2014/main" val="2107031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Base case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Combination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18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891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55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87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495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C7AAE944-9B9E-2A1A-9543-DA8D9574F695}"/>
              </a:ext>
            </a:extLst>
          </p:cNvPr>
          <p:cNvGraphicFramePr>
            <a:graphicFrameLocks noGrp="1"/>
          </p:cNvGraphicFramePr>
          <p:nvPr/>
        </p:nvGraphicFramePr>
        <p:xfrm>
          <a:off x="428016" y="1397000"/>
          <a:ext cx="8482519" cy="2590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50980">
                  <a:extLst>
                    <a:ext uri="{9D8B030D-6E8A-4147-A177-3AD203B41FA5}">
                      <a16:colId xmlns:a16="http://schemas.microsoft.com/office/drawing/2014/main" val="167768130"/>
                    </a:ext>
                  </a:extLst>
                </a:gridCol>
                <a:gridCol w="2791838">
                  <a:extLst>
                    <a:ext uri="{9D8B030D-6E8A-4147-A177-3AD203B41FA5}">
                      <a16:colId xmlns:a16="http://schemas.microsoft.com/office/drawing/2014/main" val="2579470436"/>
                    </a:ext>
                  </a:extLst>
                </a:gridCol>
                <a:gridCol w="3939701">
                  <a:extLst>
                    <a:ext uri="{9D8B030D-6E8A-4147-A177-3AD203B41FA5}">
                      <a16:colId xmlns:a16="http://schemas.microsoft.com/office/drawing/2014/main" val="21070317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Base case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Combination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25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(+   &lt;first&gt;   RNR)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18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(*   &lt;first&gt;   RNR)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891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(+  1  RNR)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55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doubles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(cons (* 2 &lt;first&gt;) RNR)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87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76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12509</TotalTime>
  <Words>234</Words>
  <Application>Microsoft Macintosh PowerPoint</Application>
  <PresentationFormat>Letter Paper (8.5x11 in)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Lecture 06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21</cp:revision>
  <cp:lastPrinted>2024-01-25T16:55:23Z</cp:lastPrinted>
  <dcterms:created xsi:type="dcterms:W3CDTF">2022-09-27T02:54:56Z</dcterms:created>
  <dcterms:modified xsi:type="dcterms:W3CDTF">2026-09-28T23:09:34Z</dcterms:modified>
</cp:coreProperties>
</file>