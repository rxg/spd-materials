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487" r:id="rId2"/>
    <p:sldId id="273" r:id="rId3"/>
    <p:sldId id="456" r:id="rId4"/>
    <p:sldId id="513" r:id="rId5"/>
    <p:sldId id="515" r:id="rId6"/>
    <p:sldId id="516" r:id="rId7"/>
    <p:sldId id="514" r:id="rId8"/>
    <p:sldId id="511" r:id="rId9"/>
    <p:sldId id="508" r:id="rId10"/>
    <p:sldId id="473" r:id="rId11"/>
    <p:sldId id="480" r:id="rId12"/>
    <p:sldId id="482" r:id="rId13"/>
    <p:sldId id="481" r:id="rId14"/>
    <p:sldId id="504" r:id="rId15"/>
    <p:sldId id="497" r:id="rId16"/>
    <p:sldId id="433" r:id="rId17"/>
    <p:sldId id="509" r:id="rId18"/>
    <p:sldId id="475" r:id="rId19"/>
    <p:sldId id="451" r:id="rId20"/>
    <p:sldId id="468" r:id="rId21"/>
    <p:sldId id="268" r:id="rId22"/>
    <p:sldId id="483" r:id="rId23"/>
    <p:sldId id="512" r:id="rId24"/>
    <p:sldId id="430" r:id="rId25"/>
    <p:sldId id="493" r:id="rId26"/>
    <p:sldId id="485" r:id="rId27"/>
    <p:sldId id="462" r:id="rId28"/>
    <p:sldId id="477" r:id="rId29"/>
    <p:sldId id="486" r:id="rId30"/>
    <p:sldId id="467" r:id="rId31"/>
    <p:sldId id="494" r:id="rId32"/>
    <p:sldId id="496" r:id="rId33"/>
    <p:sldId id="495" r:id="rId34"/>
  </p:sldIdLst>
  <p:sldSz cx="16256000" cy="9144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800" kern="1200">
        <a:solidFill>
          <a:srgbClr val="000000"/>
        </a:solidFill>
        <a:latin typeface="Gill Sans" panose="020B0502020104020203" pitchFamily="34" charset="-79"/>
        <a:ea typeface="ヒラギノ角ゴ ProN W3" panose="020B0300000000000000" pitchFamily="34" charset="-128"/>
        <a:cs typeface="+mn-cs"/>
        <a:sym typeface="Gill Sans" panose="020B0502020104020203" pitchFamily="34" charset="-79"/>
      </a:defRPr>
    </a:lvl1pPr>
    <a:lvl2pPr marL="457200" algn="l" rtl="0" eaLnBrk="0" fontAlgn="base" hangingPunct="0">
      <a:spcBef>
        <a:spcPct val="0"/>
      </a:spcBef>
      <a:spcAft>
        <a:spcPct val="0"/>
      </a:spcAft>
      <a:defRPr sz="3800" kern="1200">
        <a:solidFill>
          <a:srgbClr val="000000"/>
        </a:solidFill>
        <a:latin typeface="Gill Sans" panose="020B0502020104020203" pitchFamily="34" charset="-79"/>
        <a:ea typeface="ヒラギノ角ゴ ProN W3" panose="020B0300000000000000" pitchFamily="34" charset="-128"/>
        <a:cs typeface="+mn-cs"/>
        <a:sym typeface="Gill Sans" panose="020B0502020104020203" pitchFamily="34" charset="-79"/>
      </a:defRPr>
    </a:lvl2pPr>
    <a:lvl3pPr marL="914400" algn="l" rtl="0" eaLnBrk="0" fontAlgn="base" hangingPunct="0">
      <a:spcBef>
        <a:spcPct val="0"/>
      </a:spcBef>
      <a:spcAft>
        <a:spcPct val="0"/>
      </a:spcAft>
      <a:defRPr sz="3800" kern="1200">
        <a:solidFill>
          <a:srgbClr val="000000"/>
        </a:solidFill>
        <a:latin typeface="Gill Sans" panose="020B0502020104020203" pitchFamily="34" charset="-79"/>
        <a:ea typeface="ヒラギノ角ゴ ProN W3" panose="020B0300000000000000" pitchFamily="34" charset="-128"/>
        <a:cs typeface="+mn-cs"/>
        <a:sym typeface="Gill Sans" panose="020B0502020104020203" pitchFamily="34" charset="-79"/>
      </a:defRPr>
    </a:lvl3pPr>
    <a:lvl4pPr marL="1371600" algn="l" rtl="0" eaLnBrk="0" fontAlgn="base" hangingPunct="0">
      <a:spcBef>
        <a:spcPct val="0"/>
      </a:spcBef>
      <a:spcAft>
        <a:spcPct val="0"/>
      </a:spcAft>
      <a:defRPr sz="3800" kern="1200">
        <a:solidFill>
          <a:srgbClr val="000000"/>
        </a:solidFill>
        <a:latin typeface="Gill Sans" panose="020B0502020104020203" pitchFamily="34" charset="-79"/>
        <a:ea typeface="ヒラギノ角ゴ ProN W3" panose="020B0300000000000000" pitchFamily="34" charset="-128"/>
        <a:cs typeface="+mn-cs"/>
        <a:sym typeface="Gill Sans" panose="020B0502020104020203" pitchFamily="34" charset="-79"/>
      </a:defRPr>
    </a:lvl4pPr>
    <a:lvl5pPr marL="1828800" algn="l" rtl="0" eaLnBrk="0" fontAlgn="base" hangingPunct="0">
      <a:spcBef>
        <a:spcPct val="0"/>
      </a:spcBef>
      <a:spcAft>
        <a:spcPct val="0"/>
      </a:spcAft>
      <a:defRPr sz="3800" kern="1200">
        <a:solidFill>
          <a:srgbClr val="000000"/>
        </a:solidFill>
        <a:latin typeface="Gill Sans" panose="020B0502020104020203" pitchFamily="34" charset="-79"/>
        <a:ea typeface="ヒラギノ角ゴ ProN W3" panose="020B0300000000000000" pitchFamily="34" charset="-128"/>
        <a:cs typeface="+mn-cs"/>
        <a:sym typeface="Gill Sans" panose="020B0502020104020203" pitchFamily="34" charset="-79"/>
      </a:defRPr>
    </a:lvl5pPr>
    <a:lvl6pPr marL="2286000" algn="l" defTabSz="914400" rtl="0" eaLnBrk="1" latinLnBrk="0" hangingPunct="1">
      <a:defRPr sz="3800" kern="1200">
        <a:solidFill>
          <a:srgbClr val="000000"/>
        </a:solidFill>
        <a:latin typeface="Gill Sans" panose="020B0502020104020203" pitchFamily="34" charset="-79"/>
        <a:ea typeface="ヒラギノ角ゴ ProN W3" panose="020B0300000000000000" pitchFamily="34" charset="-128"/>
        <a:cs typeface="+mn-cs"/>
        <a:sym typeface="Gill Sans" panose="020B0502020104020203" pitchFamily="34" charset="-79"/>
      </a:defRPr>
    </a:lvl6pPr>
    <a:lvl7pPr marL="2743200" algn="l" defTabSz="914400" rtl="0" eaLnBrk="1" latinLnBrk="0" hangingPunct="1">
      <a:defRPr sz="3800" kern="1200">
        <a:solidFill>
          <a:srgbClr val="000000"/>
        </a:solidFill>
        <a:latin typeface="Gill Sans" panose="020B0502020104020203" pitchFamily="34" charset="-79"/>
        <a:ea typeface="ヒラギノ角ゴ ProN W3" panose="020B0300000000000000" pitchFamily="34" charset="-128"/>
        <a:cs typeface="+mn-cs"/>
        <a:sym typeface="Gill Sans" panose="020B0502020104020203" pitchFamily="34" charset="-79"/>
      </a:defRPr>
    </a:lvl7pPr>
    <a:lvl8pPr marL="3200400" algn="l" defTabSz="914400" rtl="0" eaLnBrk="1" latinLnBrk="0" hangingPunct="1">
      <a:defRPr sz="3800" kern="1200">
        <a:solidFill>
          <a:srgbClr val="000000"/>
        </a:solidFill>
        <a:latin typeface="Gill Sans" panose="020B0502020104020203" pitchFamily="34" charset="-79"/>
        <a:ea typeface="ヒラギノ角ゴ ProN W3" panose="020B0300000000000000" pitchFamily="34" charset="-128"/>
        <a:cs typeface="+mn-cs"/>
        <a:sym typeface="Gill Sans" panose="020B0502020104020203" pitchFamily="34" charset="-79"/>
      </a:defRPr>
    </a:lvl8pPr>
    <a:lvl9pPr marL="3657600" algn="l" defTabSz="914400" rtl="0" eaLnBrk="1" latinLnBrk="0" hangingPunct="1">
      <a:defRPr sz="3800" kern="1200">
        <a:solidFill>
          <a:srgbClr val="000000"/>
        </a:solidFill>
        <a:latin typeface="Gill Sans" panose="020B0502020104020203" pitchFamily="34" charset="-79"/>
        <a:ea typeface="ヒラギノ角ゴ ProN W3" panose="020B0300000000000000" pitchFamily="34" charset="-128"/>
        <a:cs typeface="+mn-cs"/>
        <a:sym typeface="Gill Sans" panose="020B0502020104020203" pitchFamily="34" charset="-79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isa Baniassad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/>
    <p:restoredTop sz="94966"/>
  </p:normalViewPr>
  <p:slideViewPr>
    <p:cSldViewPr>
      <p:cViewPr varScale="1">
        <p:scale>
          <a:sx n="91" d="100"/>
          <a:sy n="91" d="100"/>
        </p:scale>
        <p:origin x="792" y="192"/>
      </p:cViewPr>
      <p:guideLst>
        <p:guide orient="horz" pos="288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9B499C-6832-3341-942E-07F00471A4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1pPr>
          </a:lstStyle>
          <a:p>
            <a:pPr>
              <a:defRPr/>
            </a:pPr>
            <a:endParaRPr lang="x-none" alt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2576B-8470-BA40-BF34-B8D0422C7B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1pPr>
          </a:lstStyle>
          <a:p>
            <a:pPr>
              <a:defRPr/>
            </a:pPr>
            <a:fld id="{4BE4CBC9-EF00-1242-AF9A-9BA92381BA67}" type="datetimeFigureOut">
              <a:rPr lang="en-US" altLang="x-none"/>
              <a:pPr>
                <a:defRPr/>
              </a:pPr>
              <a:t>9/2/26</a:t>
            </a:fld>
            <a:endParaRPr lang="en-US" alt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C8E4BB-9ACA-5C4F-8D7F-9EF4D82CB0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1pPr>
          </a:lstStyle>
          <a:p>
            <a:pPr>
              <a:defRPr/>
            </a:pPr>
            <a:endParaRPr lang="x-none" alt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883C0-7F2A-DD42-BF10-A1FF4E9D80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1pPr>
          </a:lstStyle>
          <a:p>
            <a:pPr>
              <a:defRPr/>
            </a:pPr>
            <a:fld id="{050318DF-D3EE-EE43-9E4C-0AAD4EC6E29B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412058-892F-CF42-910D-3D08590BE4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A0A571-2B11-884F-AB73-1999400107A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1pPr>
          </a:lstStyle>
          <a:p>
            <a:pPr>
              <a:defRPr/>
            </a:pPr>
            <a:fld id="{833EF75E-3BB9-844C-9CF2-0D41D917E929}" type="datetimeFigureOut">
              <a:rPr lang="en-US"/>
              <a:pPr>
                <a:defRPr/>
              </a:pPr>
              <a:t>9/2/26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B2F7F97-4231-4E4B-8C75-2E9EEEDAC5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01447F2-7974-2944-83AA-39A40D7E24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C9097-1154-8E41-BFA9-A443FAC0B24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18D17-CEF7-F64C-B6BF-FAAE6D285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1pPr>
          </a:lstStyle>
          <a:p>
            <a:pPr>
              <a:defRPr/>
            </a:pPr>
            <a:fld id="{A347151E-EF0E-0542-9FAB-342A64E99A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back and forth between first two slides before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47151E-EF0E-0542-9FAB-342A64E99A1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33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47151E-EF0E-0542-9FAB-342A64E99A12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577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Notes Placeholder 2">
            <a:extLst>
              <a:ext uri="{FF2B5EF4-FFF2-40B4-BE49-F238E27FC236}">
                <a16:creationId xmlns:a16="http://schemas.microsoft.com/office/drawing/2014/main" id="{95743224-AEE4-B148-859B-86B133464B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You will do better being bad at math than being bad at teamwork.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47151E-EF0E-0542-9FAB-342A64E99A12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85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47151E-EF0E-0542-9FAB-342A64E99A12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08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7013"/>
            <a:ext cx="12192000" cy="318293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188"/>
            <a:ext cx="12192000" cy="220821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9181020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379259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663" y="2279650"/>
            <a:ext cx="14020800" cy="3803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663" y="6119813"/>
            <a:ext cx="14020800" cy="200025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524759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7500" y="2590800"/>
            <a:ext cx="6464300" cy="535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4200" y="2590800"/>
            <a:ext cx="6464300" cy="535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317527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188" y="487363"/>
            <a:ext cx="14020800" cy="1766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188" y="2241550"/>
            <a:ext cx="6877050" cy="10985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188" y="3340100"/>
            <a:ext cx="6877050" cy="4913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0"/>
            <a:ext cx="6910388" cy="10985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388" cy="4913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015484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027972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65363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188" y="609600"/>
            <a:ext cx="5243512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388" y="1316038"/>
            <a:ext cx="8229600" cy="64992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188" y="2743200"/>
            <a:ext cx="5243512" cy="508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153333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188" y="609600"/>
            <a:ext cx="5243512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910388" y="1316038"/>
            <a:ext cx="8229600" cy="64992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188" y="2743200"/>
            <a:ext cx="5243512" cy="508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775140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257423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98250" y="241300"/>
            <a:ext cx="3270250" cy="7708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87500" y="241300"/>
            <a:ext cx="9658350" cy="7708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126988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554134" y="791156"/>
            <a:ext cx="15147733" cy="1018133"/>
          </a:xfrm>
          <a:prstGeom prst="rect">
            <a:avLst/>
          </a:prstGeom>
        </p:spPr>
        <p:txBody>
          <a:bodyPr spcFirstLastPara="1" lIns="91425" tIns="91425" rIns="91425" bIns="91425" anchor="t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554134" y="2048844"/>
            <a:ext cx="15147733" cy="6073600"/>
          </a:xfrm>
          <a:prstGeom prst="rect">
            <a:avLst/>
          </a:prstGeom>
        </p:spPr>
        <p:txBody>
          <a:bodyPr spcFirstLastPara="1" lIns="91425" tIns="91425" rIns="91425" bIns="91425" anchor="t"/>
          <a:lstStyle>
            <a:lvl1pPr marL="812810" lvl="0" indent="-609608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625620" lvl="1" indent="-564452">
              <a:spcBef>
                <a:spcPts val="2844"/>
              </a:spcBef>
              <a:spcAft>
                <a:spcPts val="0"/>
              </a:spcAft>
              <a:buSzPts val="1400"/>
              <a:buChar char="○"/>
              <a:defRPr/>
            </a:lvl2pPr>
            <a:lvl3pPr marL="2438430" lvl="2" indent="-564452">
              <a:spcBef>
                <a:spcPts val="2844"/>
              </a:spcBef>
              <a:spcAft>
                <a:spcPts val="0"/>
              </a:spcAft>
              <a:buSzPts val="1400"/>
              <a:buChar char="■"/>
              <a:defRPr/>
            </a:lvl3pPr>
            <a:lvl4pPr marL="3251241" lvl="3" indent="-564452">
              <a:spcBef>
                <a:spcPts val="2844"/>
              </a:spcBef>
              <a:spcAft>
                <a:spcPts val="0"/>
              </a:spcAft>
              <a:buSzPts val="1400"/>
              <a:buChar char="●"/>
              <a:defRPr/>
            </a:lvl4pPr>
            <a:lvl5pPr marL="4064051" lvl="4" indent="-564452">
              <a:spcBef>
                <a:spcPts val="2844"/>
              </a:spcBef>
              <a:spcAft>
                <a:spcPts val="0"/>
              </a:spcAft>
              <a:buSzPts val="1400"/>
              <a:buChar char="○"/>
              <a:defRPr/>
            </a:lvl5pPr>
            <a:lvl6pPr marL="4876861" lvl="5" indent="-564452">
              <a:spcBef>
                <a:spcPts val="2844"/>
              </a:spcBef>
              <a:spcAft>
                <a:spcPts val="0"/>
              </a:spcAft>
              <a:buSzPts val="1400"/>
              <a:buChar char="■"/>
              <a:defRPr/>
            </a:lvl6pPr>
            <a:lvl7pPr marL="5689671" lvl="6" indent="-564452">
              <a:spcBef>
                <a:spcPts val="2844"/>
              </a:spcBef>
              <a:spcAft>
                <a:spcPts val="0"/>
              </a:spcAft>
              <a:buSzPts val="1400"/>
              <a:buChar char="●"/>
              <a:defRPr/>
            </a:lvl7pPr>
            <a:lvl8pPr marL="6502481" lvl="7" indent="-564452">
              <a:spcBef>
                <a:spcPts val="2844"/>
              </a:spcBef>
              <a:spcAft>
                <a:spcPts val="0"/>
              </a:spcAft>
              <a:buSzPts val="1400"/>
              <a:buChar char="○"/>
              <a:defRPr/>
            </a:lvl8pPr>
            <a:lvl9pPr marL="7315291" lvl="8" indent="-564452">
              <a:spcBef>
                <a:spcPts val="2844"/>
              </a:spcBef>
              <a:spcAft>
                <a:spcPts val="2844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" name="Shape 19">
            <a:extLst>
              <a:ext uri="{FF2B5EF4-FFF2-40B4-BE49-F238E27FC236}">
                <a16:creationId xmlns:a16="http://schemas.microsoft.com/office/drawing/2014/main" id="{62EB3E47-C34A-F842-A539-6555E6830BED}"/>
              </a:ext>
            </a:extLst>
          </p:cNvPr>
          <p:cNvSpPr txBox="1">
            <a:spLocks noGrp="1"/>
          </p:cNvSpPr>
          <p:nvPr>
            <p:ph type="sldNum" idx="10"/>
          </p:nvPr>
        </p:nvSpPr>
        <p:spPr>
          <a:xfrm>
            <a:off x="15062200" y="8289925"/>
            <a:ext cx="974725" cy="7000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86FC8D3D-6F20-B940-B45B-752BED6162B6}" type="slidenum">
              <a:rPr lang="en"/>
              <a:pPr>
                <a:defRPr/>
              </a:pPr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7750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>
            <a:extLst>
              <a:ext uri="{FF2B5EF4-FFF2-40B4-BE49-F238E27FC236}">
                <a16:creationId xmlns:a16="http://schemas.microsoft.com/office/drawing/2014/main" id="{A1F70035-41F2-1245-B6C7-B1DF802F16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82638" y="241300"/>
            <a:ext cx="13081000" cy="152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>
                <a:sym typeface="Gill Sans" charset="0"/>
              </a:rPr>
              <a:t>Click to edit Master title style</a:t>
            </a:r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ED32DD3E-33BF-564E-97F3-4D88650C40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87500" y="2590800"/>
            <a:ext cx="13081000" cy="535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 altLang="en-US">
                <a:sym typeface="Gill Sans" charset="0"/>
              </a:rPr>
              <a:t>Second level</a:t>
            </a:r>
          </a:p>
          <a:p>
            <a:pPr lvl="2"/>
            <a:r>
              <a:rPr lang="en-US" altLang="en-US">
                <a:sym typeface="Gill Sans" charset="0"/>
              </a:rPr>
              <a:t>Third level</a:t>
            </a:r>
          </a:p>
          <a:p>
            <a:pPr lvl="3"/>
            <a:r>
              <a:rPr lang="en-US" altLang="en-US">
                <a:sym typeface="Gill Sans" charset="0"/>
              </a:rPr>
              <a:t>Fourth level</a:t>
            </a:r>
          </a:p>
          <a:p>
            <a:pPr lvl="4"/>
            <a:r>
              <a:rPr lang="en-US" altLang="en-US">
                <a:sym typeface="Gill Sans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998" r:id="rId12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78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7800">
          <a:solidFill>
            <a:schemeClr val="tx1"/>
          </a:solidFill>
          <a:latin typeface="Gill Sans" charset="0"/>
          <a:ea typeface="ヒラギノ角ゴ ProN W3" charset="-128"/>
          <a:cs typeface="ヒラギノ角ゴ ProN W3" charset="-128"/>
          <a:sym typeface="Gill Sans" panose="020B0502020104020203" pitchFamily="34" charset="-79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7800">
          <a:solidFill>
            <a:schemeClr val="tx1"/>
          </a:solidFill>
          <a:latin typeface="Gill Sans" charset="0"/>
          <a:ea typeface="ヒラギノ角ゴ ProN W3" charset="-128"/>
          <a:cs typeface="ヒラギノ角ゴ ProN W3" charset="-128"/>
          <a:sym typeface="Gill Sans" panose="020B0502020104020203" pitchFamily="34" charset="-79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7800">
          <a:solidFill>
            <a:schemeClr val="tx1"/>
          </a:solidFill>
          <a:latin typeface="Gill Sans" charset="0"/>
          <a:ea typeface="ヒラギノ角ゴ ProN W3" charset="-128"/>
          <a:cs typeface="ヒラギノ角ゴ ProN W3" charset="-128"/>
          <a:sym typeface="Gill Sans" panose="020B0502020104020203" pitchFamily="34" charset="-79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7800">
          <a:solidFill>
            <a:schemeClr val="tx1"/>
          </a:solidFill>
          <a:latin typeface="Gill Sans" charset="0"/>
          <a:ea typeface="ヒラギノ角ゴ ProN W3" charset="-128"/>
          <a:cs typeface="ヒラギノ角ゴ ProN W3" charset="-128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7800">
          <a:solidFill>
            <a:schemeClr val="tx1"/>
          </a:solidFill>
          <a:latin typeface="Gill Sans" charset="0"/>
          <a:ea typeface="ヒラギノ角ゴ ProN W3" charset="-128"/>
          <a:cs typeface="ヒラギノ角ゴ ProN W3" charset="-128"/>
          <a:sym typeface="Gill San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7800">
          <a:solidFill>
            <a:schemeClr val="tx1"/>
          </a:solidFill>
          <a:latin typeface="Gill Sans" charset="0"/>
          <a:ea typeface="ヒラギノ角ゴ ProN W3" charset="-128"/>
          <a:cs typeface="ヒラギノ角ゴ ProN W3" charset="-128"/>
          <a:sym typeface="Gill San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7800">
          <a:solidFill>
            <a:schemeClr val="tx1"/>
          </a:solidFill>
          <a:latin typeface="Gill Sans" charset="0"/>
          <a:ea typeface="ヒラギノ角ゴ ProN W3" charset="-128"/>
          <a:cs typeface="ヒラギノ角ゴ ProN W3" charset="-128"/>
          <a:sym typeface="Gill San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7800">
          <a:solidFill>
            <a:schemeClr val="tx1"/>
          </a:solidFill>
          <a:latin typeface="Gill Sans" charset="0"/>
          <a:ea typeface="ヒラギノ角ゴ ProN W3" charset="-128"/>
          <a:cs typeface="ヒラギノ角ゴ ProN W3" charset="-128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23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marL="1282700" indent="-571500" algn="l" rtl="0" eaLnBrk="0" fontAlgn="base" hangingPunct="0">
        <a:spcBef>
          <a:spcPts val="23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marL="1727200" indent="-571500" algn="l" rtl="0" eaLnBrk="0" fontAlgn="base" hangingPunct="0">
        <a:spcBef>
          <a:spcPts val="23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marL="2171700" indent="-571500" algn="l" rtl="0" eaLnBrk="0" fontAlgn="base" hangingPunct="0">
        <a:spcBef>
          <a:spcPts val="23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marL="2616200" indent="-571500" algn="l" rtl="0" eaLnBrk="0" fontAlgn="base" hangingPunct="0">
        <a:spcBef>
          <a:spcPts val="23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s110.students.cs.ubc.ca/admin/links.html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s110.students.cs.ubc.ca/admin/team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s110.students.cs.ubc.ca/admin/team.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s110.students.cs.ubc.ca/admin/team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mailto:cpsc110-admin@cs.ubc.ca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cs110.students.cs.ubc.ca/admin/links.html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cs110.students.cs.ubc.ca/admin/syllabus.html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s110.students.cs.ubc.ca/admin/links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s110.students.cs.ubc.ca/syllabu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F398C-F421-024A-9418-354FBD763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you wait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EA0E1A-36EC-6744-B73B-983ED6B31E07}"/>
              </a:ext>
            </a:extLst>
          </p:cNvPr>
          <p:cNvSpPr txBox="1">
            <a:spLocks/>
          </p:cNvSpPr>
          <p:nvPr/>
        </p:nvSpPr>
        <p:spPr bwMode="auto">
          <a:xfrm>
            <a:off x="1587500" y="2843808"/>
            <a:ext cx="13813308" cy="535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>
            <a:lvl1pPr marL="838200" indent="-571500" algn="l" rtl="0" eaLnBrk="0" fontAlgn="base" hangingPunct="0">
              <a:spcBef>
                <a:spcPts val="23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anose="020B0502020104020203" pitchFamily="34" charset="-79"/>
              </a:defRPr>
            </a:lvl1pPr>
            <a:lvl2pPr marL="1282700" indent="-571500" algn="l" rtl="0" eaLnBrk="0" fontAlgn="base" hangingPunct="0">
              <a:spcBef>
                <a:spcPts val="23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anose="020B0502020104020203" pitchFamily="34" charset="-79"/>
              </a:defRPr>
            </a:lvl2pPr>
            <a:lvl3pPr marL="1727200" indent="-571500" algn="l" rtl="0" eaLnBrk="0" fontAlgn="base" hangingPunct="0">
              <a:spcBef>
                <a:spcPts val="23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anose="020B0502020104020203" pitchFamily="34" charset="-79"/>
              </a:defRPr>
            </a:lvl3pPr>
            <a:lvl4pPr marL="2171700" indent="-571500" algn="l" rtl="0" eaLnBrk="0" fontAlgn="base" hangingPunct="0">
              <a:spcBef>
                <a:spcPts val="23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anose="020B0502020104020203" pitchFamily="34" charset="-79"/>
              </a:defRPr>
            </a:lvl4pPr>
            <a:lvl5pPr marL="2616200" indent="-571500" algn="l" rtl="0" eaLnBrk="0" fontAlgn="base" hangingPunct="0">
              <a:spcBef>
                <a:spcPts val="23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anose="020B0502020104020203" pitchFamily="34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600" dirty="0">
                <a:hlinkClick r:id="rId2"/>
              </a:rPr>
              <a:t>https://cs110.students.cs.ubc.cs/lectures/110-intro.pdf</a:t>
            </a:r>
            <a:r>
              <a:rPr lang="en-CA" sz="3600" dirty="0"/>
              <a:t>   &lt;&lt;&lt; Slides!</a:t>
            </a:r>
            <a:endParaRPr lang="en-CA" sz="3600" dirty="0">
              <a:hlinkClick r:id="rId2"/>
            </a:endParaRPr>
          </a:p>
          <a:p>
            <a:r>
              <a:rPr lang="en-CA" sz="3600" dirty="0">
                <a:hlinkClick r:id="rId2"/>
              </a:rPr>
              <a:t>https://cs110.students.cs.ubc.ca/admin/links.html</a:t>
            </a:r>
            <a:endParaRPr lang="en-CA" sz="3600" dirty="0"/>
          </a:p>
          <a:p>
            <a:r>
              <a:rPr lang="en-CA" sz="3600" dirty="0"/>
              <a:t>(you must be on UBC’s  VPN to </a:t>
            </a:r>
            <a:r>
              <a:rPr lang="en-CA" sz="3600"/>
              <a:t>access course web </a:t>
            </a:r>
            <a:r>
              <a:rPr lang="en-CA" sz="3600" dirty="0"/>
              <a:t>pages)</a:t>
            </a:r>
          </a:p>
          <a:p>
            <a:r>
              <a:rPr lang="en-CA" sz="3600" dirty="0"/>
              <a:t>Follow Setup link</a:t>
            </a:r>
          </a:p>
          <a:p>
            <a:pPr lvl="1"/>
            <a:r>
              <a:rPr lang="en-CA" sz="3600" dirty="0"/>
              <a:t>skip to installing DrRacket</a:t>
            </a:r>
          </a:p>
          <a:p>
            <a:pPr lvl="2"/>
            <a:r>
              <a:rPr lang="en-CA" sz="3600" dirty="0"/>
              <a:t>but stop when you get to “setup test file”</a:t>
            </a:r>
          </a:p>
          <a:p>
            <a:pPr lvl="2"/>
            <a:r>
              <a:rPr lang="en-CA" sz="3600" dirty="0"/>
              <a:t>that will let you type at DrRacket for class</a:t>
            </a:r>
          </a:p>
          <a:p>
            <a:pPr lvl="2"/>
            <a:r>
              <a:rPr lang="en-CA" sz="3600" dirty="0"/>
              <a:t>go back after class and do skipped setup page steps IN ORDER</a:t>
            </a:r>
          </a:p>
          <a:p>
            <a:r>
              <a:rPr lang="en-CA" sz="3600" dirty="0"/>
              <a:t>Or, do all this after class and just use pen and paper during class!</a:t>
            </a:r>
          </a:p>
          <a:p>
            <a:pPr marL="266700" indent="0">
              <a:buFont typeface="Gill Sans" panose="020B0502020104020203" pitchFamily="34" charset="-79"/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5667438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>
            <a:extLst>
              <a:ext uri="{FF2B5EF4-FFF2-40B4-BE49-F238E27FC236}">
                <a16:creationId xmlns:a16="http://schemas.microsoft.com/office/drawing/2014/main" id="{393ABD14-BD51-4A4D-834A-21DC8D99CEC9}"/>
              </a:ext>
            </a:extLst>
          </p:cNvPr>
          <p:cNvSpPr>
            <a:spLocks/>
          </p:cNvSpPr>
          <p:nvPr/>
        </p:nvSpPr>
        <p:spPr bwMode="auto">
          <a:xfrm>
            <a:off x="1296181" y="1539993"/>
            <a:ext cx="13830300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ts val="2300"/>
              </a:spcBef>
              <a:buSzPct val="171000"/>
              <a:buFont typeface="Gill Sans" panose="020B0502020104020203" pitchFamily="34" charset="-79"/>
              <a:buChar char="•"/>
              <a:defRPr sz="38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1282700" indent="-571500">
              <a:spcBef>
                <a:spcPts val="2300"/>
              </a:spcBef>
              <a:buSzPct val="171000"/>
              <a:buFont typeface="Gill Sans" panose="020B0502020104020203" pitchFamily="34" charset="-79"/>
              <a:buChar char="•"/>
              <a:defRPr sz="38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727200" indent="-571500">
              <a:spcBef>
                <a:spcPts val="2300"/>
              </a:spcBef>
              <a:buSzPct val="171000"/>
              <a:buFont typeface="Gill Sans" panose="020B0502020104020203" pitchFamily="34" charset="-79"/>
              <a:buChar char="•"/>
              <a:defRPr sz="38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2171700" indent="-571500">
              <a:spcBef>
                <a:spcPts val="2300"/>
              </a:spcBef>
              <a:buSzPct val="171000"/>
              <a:buFont typeface="Gill Sans" panose="020B0502020104020203" pitchFamily="34" charset="-79"/>
              <a:buChar char="•"/>
              <a:defRPr sz="38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616200" indent="-571500">
              <a:spcBef>
                <a:spcPts val="2300"/>
              </a:spcBef>
              <a:buSzPct val="171000"/>
              <a:buFont typeface="Gill Sans" panose="020B0502020104020203" pitchFamily="34" charset="-79"/>
              <a:buChar char="•"/>
              <a:defRPr sz="38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3073400" indent="-571500" eaLnBrk="0" fontAlgn="base" hangingPunct="0">
              <a:spcBef>
                <a:spcPts val="23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8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3530600" indent="-571500" eaLnBrk="0" fontAlgn="base" hangingPunct="0">
              <a:spcBef>
                <a:spcPts val="23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8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987800" indent="-571500" eaLnBrk="0" fontAlgn="base" hangingPunct="0">
              <a:spcBef>
                <a:spcPts val="23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8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4445000" indent="-571500" eaLnBrk="0" fontAlgn="base" hangingPunct="0">
              <a:spcBef>
                <a:spcPts val="23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800">
                <a:solidFill>
                  <a:schemeClr val="tx1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4400" dirty="0">
                <a:latin typeface="Lucida Grande" panose="020B0600040502020204" pitchFamily="34" charset="0"/>
                <a:cs typeface="Lucida Grande" panose="020B0600040502020204" pitchFamily="34" charset="0"/>
                <a:sym typeface="Lucida Grande" panose="020B0600040502020204" pitchFamily="34" charset="0"/>
              </a:rPr>
              <a:t>CPSC 110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4400" dirty="0">
                <a:latin typeface="Lucida Grande" panose="020B0600040502020204" pitchFamily="34" charset="0"/>
                <a:cs typeface="Lucida Grande" panose="020B0600040502020204" pitchFamily="34" charset="0"/>
                <a:sym typeface="Lucida Grande" panose="020B0600040502020204" pitchFamily="34" charset="0"/>
              </a:rPr>
              <a:t>Systematic Program Design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 sz="4400" dirty="0">
              <a:latin typeface="Lucida Grande" panose="020B0600040502020204" pitchFamily="34" charset="0"/>
              <a:cs typeface="Lucida Grande" panose="020B0600040502020204" pitchFamily="34" charset="0"/>
              <a:sym typeface="Lucida Grande" panose="020B0600040502020204" pitchFamily="34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 sz="3200" dirty="0">
              <a:latin typeface="Lucida Grande" panose="020B0600040502020204" pitchFamily="34" charset="0"/>
              <a:cs typeface="Lucida Grande" panose="020B0600040502020204" pitchFamily="34" charset="0"/>
              <a:sym typeface="Lucida Grande" panose="020B0600040502020204" pitchFamily="34" charset="0"/>
            </a:endParaRP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AF04A64E-9E1C-3549-9ECE-1BF8E64EF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8585200"/>
            <a:ext cx="11176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4">
            <a:extLst>
              <a:ext uri="{FF2B5EF4-FFF2-40B4-BE49-F238E27FC236}">
                <a16:creationId xmlns:a16="http://schemas.microsoft.com/office/drawing/2014/main" id="{22999F8C-B09F-7743-9160-66C74666A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2875" y="188913"/>
            <a:ext cx="1792288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D425F71-B473-DA48-9469-08FC8979C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181" y="3419872"/>
            <a:ext cx="13081000" cy="3629025"/>
          </a:xfrm>
        </p:spPr>
        <p:txBody>
          <a:bodyPr/>
          <a:lstStyle/>
          <a:p>
            <a:pPr lvl="1">
              <a:defRPr/>
            </a:pPr>
            <a:r>
              <a:rPr lang="en-US" dirty="0"/>
              <a:t>Who, Why, What and How</a:t>
            </a:r>
          </a:p>
          <a:p>
            <a:pPr lvl="1">
              <a:defRPr/>
            </a:pPr>
            <a:r>
              <a:rPr lang="en-US" dirty="0"/>
              <a:t>Start working on the first module</a:t>
            </a:r>
          </a:p>
          <a:p>
            <a:pPr lvl="1">
              <a:defRPr/>
            </a:pPr>
            <a:r>
              <a:rPr lang="en-US" dirty="0"/>
              <a:t>Don’t worry – this is not a </a:t>
            </a:r>
            <a:r>
              <a:rPr lang="en-US" dirty="0" err="1"/>
              <a:t>powerpoint</a:t>
            </a:r>
            <a:r>
              <a:rPr lang="en-US" dirty="0"/>
              <a:t> course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6D9F755-2ADA-4951-60A7-87405DE5D3FC}"/>
              </a:ext>
            </a:extLst>
          </p:cNvPr>
          <p:cNvGrpSpPr/>
          <p:nvPr/>
        </p:nvGrpSpPr>
        <p:grpSpPr>
          <a:xfrm>
            <a:off x="10681983" y="6691946"/>
            <a:ext cx="5383517" cy="1893254"/>
            <a:chOff x="10681983" y="6691946"/>
            <a:chExt cx="5383517" cy="1893254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CE1B8BE-A9ED-D470-1CE4-CCF4EE202D27}"/>
                </a:ext>
              </a:extLst>
            </p:cNvPr>
            <p:cNvGrpSpPr/>
            <p:nvPr/>
          </p:nvGrpSpPr>
          <p:grpSpPr>
            <a:xfrm>
              <a:off x="10681983" y="6691946"/>
              <a:ext cx="2511773" cy="1893254"/>
              <a:chOff x="10681983" y="6691946"/>
              <a:chExt cx="2511773" cy="1893254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F87A8AEF-1E0E-1C3B-F872-A6E5B3165CAA}"/>
                  </a:ext>
                </a:extLst>
              </p:cNvPr>
              <p:cNvGrpSpPr/>
              <p:nvPr/>
            </p:nvGrpSpPr>
            <p:grpSpPr>
              <a:xfrm>
                <a:off x="12473676" y="7412001"/>
                <a:ext cx="720080" cy="1173199"/>
                <a:chOff x="12880528" y="7647272"/>
                <a:chExt cx="720080" cy="1173199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1779BAD4-9913-80E9-0A5D-125D8DFE63C0}"/>
                    </a:ext>
                  </a:extLst>
                </p:cNvPr>
                <p:cNvSpPr/>
                <p:nvPr/>
              </p:nvSpPr>
              <p:spPr bwMode="auto">
                <a:xfrm>
                  <a:off x="12880528" y="7854048"/>
                  <a:ext cx="720080" cy="966423"/>
                </a:xfrm>
                <a:prstGeom prst="ellipse">
                  <a:avLst/>
                </a:prstGeom>
                <a:noFill/>
                <a:ln w="254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761ED5A0-3D3F-2AE7-7AF0-5D2C3BDF8AF7}"/>
                    </a:ext>
                  </a:extLst>
                </p:cNvPr>
                <p:cNvSpPr/>
                <p:nvPr/>
              </p:nvSpPr>
              <p:spPr bwMode="auto">
                <a:xfrm>
                  <a:off x="13096552" y="8100392"/>
                  <a:ext cx="90240" cy="139337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668081A3-9A46-D335-7637-754E24ECAD93}"/>
                    </a:ext>
                  </a:extLst>
                </p:cNvPr>
                <p:cNvSpPr/>
                <p:nvPr/>
              </p:nvSpPr>
              <p:spPr bwMode="auto">
                <a:xfrm>
                  <a:off x="13312576" y="8100392"/>
                  <a:ext cx="90240" cy="139337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7F7665FE-D002-1A5E-CCEC-25F2B8CB8104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13024544" y="7698664"/>
                  <a:ext cx="90367" cy="185704"/>
                </a:xfrm>
                <a:prstGeom prst="lin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DBC2B8DA-97D3-B4B0-E21A-E5F4269A11B0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13201048" y="7647272"/>
                  <a:ext cx="47417" cy="206776"/>
                </a:xfrm>
                <a:prstGeom prst="lin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15253686-FA58-7AA4-1015-C67C52BE94FC}"/>
                    </a:ext>
                  </a:extLst>
                </p:cNvPr>
                <p:cNvCxnSpPr/>
                <p:nvPr/>
              </p:nvCxnSpPr>
              <p:spPr bwMode="auto">
                <a:xfrm flipV="1">
                  <a:off x="13364861" y="7666679"/>
                  <a:ext cx="70942" cy="207153"/>
                </a:xfrm>
                <a:prstGeom prst="lin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5B2E7F33-03F5-03C2-7D0F-DE61794E5144}"/>
                    </a:ext>
                  </a:extLst>
                </p:cNvPr>
                <p:cNvCxnSpPr/>
                <p:nvPr/>
              </p:nvCxnSpPr>
              <p:spPr bwMode="auto">
                <a:xfrm flipV="1">
                  <a:off x="13456592" y="7740352"/>
                  <a:ext cx="90789" cy="200864"/>
                </a:xfrm>
                <a:prstGeom prst="lin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17" name="Rounded Rectangular Callout 16">
                <a:extLst>
                  <a:ext uri="{FF2B5EF4-FFF2-40B4-BE49-F238E27FC236}">
                    <a16:creationId xmlns:a16="http://schemas.microsoft.com/office/drawing/2014/main" id="{6F9F6D43-E687-CB80-BB5C-0951444812B0}"/>
                  </a:ext>
                </a:extLst>
              </p:cNvPr>
              <p:cNvSpPr/>
              <p:nvPr/>
            </p:nvSpPr>
            <p:spPr bwMode="auto">
              <a:xfrm>
                <a:off x="10681983" y="6691946"/>
                <a:ext cx="1647677" cy="801557"/>
              </a:xfrm>
              <a:prstGeom prst="wedgeRoundRectCallout">
                <a:avLst>
                  <a:gd name="adj1" fmla="val 51463"/>
                  <a:gd name="adj2" fmla="val 139672"/>
                  <a:gd name="adj3" fmla="val 16667"/>
                </a:avLst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4C71E87-B08F-446B-0800-66576B596ED0}"/>
                  </a:ext>
                </a:extLst>
              </p:cNvPr>
              <p:cNvSpPr txBox="1"/>
              <p:nvPr/>
            </p:nvSpPr>
            <p:spPr>
              <a:xfrm>
                <a:off x="10716843" y="6848842"/>
                <a:ext cx="157795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err="1"/>
                  <a:t>Powerpoint</a:t>
                </a:r>
                <a:r>
                  <a:rPr lang="en-US" sz="2000" dirty="0"/>
                  <a:t>?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C6D0925-1392-029D-8E1E-B8160F69D119}"/>
                </a:ext>
              </a:extLst>
            </p:cNvPr>
            <p:cNvGrpSpPr/>
            <p:nvPr/>
          </p:nvGrpSpPr>
          <p:grpSpPr>
            <a:xfrm>
              <a:off x="13481719" y="6691946"/>
              <a:ext cx="2583781" cy="1893254"/>
              <a:chOff x="13481719" y="6691946"/>
              <a:chExt cx="2583781" cy="1893254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D04FB9DD-69A4-135D-392F-050CBB6A7117}"/>
                  </a:ext>
                </a:extLst>
              </p:cNvPr>
              <p:cNvGrpSpPr/>
              <p:nvPr/>
            </p:nvGrpSpPr>
            <p:grpSpPr>
              <a:xfrm>
                <a:off x="13481719" y="7412001"/>
                <a:ext cx="720080" cy="1173199"/>
                <a:chOff x="12880528" y="7647272"/>
                <a:chExt cx="720080" cy="1173199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BC434DBC-BF4F-34A7-9181-7B12AC2DC365}"/>
                    </a:ext>
                  </a:extLst>
                </p:cNvPr>
                <p:cNvSpPr/>
                <p:nvPr/>
              </p:nvSpPr>
              <p:spPr bwMode="auto">
                <a:xfrm>
                  <a:off x="12880528" y="7854048"/>
                  <a:ext cx="720080" cy="966423"/>
                </a:xfrm>
                <a:prstGeom prst="ellipse">
                  <a:avLst/>
                </a:prstGeom>
                <a:noFill/>
                <a:ln w="254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04CDA84-E556-A3F5-B4AB-D8704D0D340A}"/>
                    </a:ext>
                  </a:extLst>
                </p:cNvPr>
                <p:cNvSpPr/>
                <p:nvPr/>
              </p:nvSpPr>
              <p:spPr bwMode="auto">
                <a:xfrm>
                  <a:off x="13096552" y="8100392"/>
                  <a:ext cx="90240" cy="139337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95760BFB-57CC-0966-D5E6-0E0503887B77}"/>
                    </a:ext>
                  </a:extLst>
                </p:cNvPr>
                <p:cNvSpPr/>
                <p:nvPr/>
              </p:nvSpPr>
              <p:spPr bwMode="auto">
                <a:xfrm>
                  <a:off x="13312576" y="8100392"/>
                  <a:ext cx="90240" cy="139337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1595A849-1C59-5466-89D4-E1DDA891D941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13024544" y="7698664"/>
                  <a:ext cx="90367" cy="185704"/>
                </a:xfrm>
                <a:prstGeom prst="lin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41EBA6CD-762D-9A49-3AEB-877D20AE033B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13201048" y="7647272"/>
                  <a:ext cx="47417" cy="206776"/>
                </a:xfrm>
                <a:prstGeom prst="lin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2143426A-0AAB-6BFC-69D0-5419CBF6ED59}"/>
                    </a:ext>
                  </a:extLst>
                </p:cNvPr>
                <p:cNvCxnSpPr/>
                <p:nvPr/>
              </p:nvCxnSpPr>
              <p:spPr bwMode="auto">
                <a:xfrm flipV="1">
                  <a:off x="13364861" y="7666679"/>
                  <a:ext cx="70942" cy="207153"/>
                </a:xfrm>
                <a:prstGeom prst="lin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1CFC99CE-A502-0539-C324-FC475D3140D3}"/>
                    </a:ext>
                  </a:extLst>
                </p:cNvPr>
                <p:cNvCxnSpPr/>
                <p:nvPr/>
              </p:nvCxnSpPr>
              <p:spPr bwMode="auto">
                <a:xfrm flipV="1">
                  <a:off x="13456592" y="7740352"/>
                  <a:ext cx="90789" cy="200864"/>
                </a:xfrm>
                <a:prstGeom prst="line">
                  <a:avLst/>
                </a:prstGeom>
                <a:blipFill dpi="0" rotWithShape="0">
                  <a:blip r:embed="rId5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6" name="Rounded Rectangular Callout 5">
                <a:extLst>
                  <a:ext uri="{FF2B5EF4-FFF2-40B4-BE49-F238E27FC236}">
                    <a16:creationId xmlns:a16="http://schemas.microsoft.com/office/drawing/2014/main" id="{BC5E5C23-B257-45E8-0C3B-0F665B9C4BE7}"/>
                  </a:ext>
                </a:extLst>
              </p:cNvPr>
              <p:cNvSpPr/>
              <p:nvPr/>
            </p:nvSpPr>
            <p:spPr bwMode="auto">
              <a:xfrm>
                <a:off x="14417823" y="6691946"/>
                <a:ext cx="1647677" cy="801557"/>
              </a:xfrm>
              <a:prstGeom prst="wedgeRoundRectCallout">
                <a:avLst>
                  <a:gd name="adj1" fmla="val -57582"/>
                  <a:gd name="adj2" fmla="val 143675"/>
                  <a:gd name="adj3" fmla="val 16667"/>
                </a:avLst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E46383-943E-3269-9FAF-81E3B4CD2A1B}"/>
                  </a:ext>
                </a:extLst>
              </p:cNvPr>
              <p:cNvSpPr txBox="1"/>
              <p:nvPr/>
            </p:nvSpPr>
            <p:spPr>
              <a:xfrm>
                <a:off x="14401087" y="6892669"/>
                <a:ext cx="157795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Ugh!</a:t>
                </a:r>
              </a:p>
            </p:txBody>
          </p:sp>
        </p:grp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EF09F-7F98-8642-BACA-8078B2947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1425" y="1770063"/>
            <a:ext cx="13393439" cy="4242097"/>
          </a:xfrm>
        </p:spPr>
        <p:txBody>
          <a:bodyPr anchor="t"/>
          <a:lstStyle/>
          <a:p>
            <a:pPr marL="266700" indent="0">
              <a:buFont typeface="Gill Sans" panose="020B0502020104020203" pitchFamily="34" charset="-79"/>
              <a:buNone/>
              <a:defRPr/>
            </a:pPr>
            <a:r>
              <a:rPr lang="en-US" sz="3200" dirty="0"/>
              <a:t>Foundation for SPD is How to Design Programs (aka </a:t>
            </a:r>
            <a:r>
              <a:rPr lang="en-US" sz="3200" dirty="0" err="1"/>
              <a:t>HtDP</a:t>
            </a:r>
            <a:r>
              <a:rPr lang="en-US" sz="3200" dirty="0"/>
              <a:t>)</a:t>
            </a:r>
          </a:p>
          <a:p>
            <a:pPr marL="266700" indent="0">
              <a:buFont typeface="Gill Sans" panose="020B0502020104020203" pitchFamily="34" charset="-79"/>
              <a:buNone/>
              <a:defRPr/>
            </a:pPr>
            <a:r>
              <a:rPr lang="en-US" sz="3200" dirty="0"/>
              <a:t>1</a:t>
            </a:r>
            <a:r>
              <a:rPr lang="en-US" sz="3200" baseline="30000" dirty="0"/>
              <a:t>st</a:t>
            </a:r>
            <a:r>
              <a:rPr lang="en-US" sz="3200" dirty="0"/>
              <a:t> and 2</a:t>
            </a:r>
            <a:r>
              <a:rPr lang="en-US" sz="3200" baseline="30000" dirty="0"/>
              <a:t>nd</a:t>
            </a:r>
            <a:r>
              <a:rPr lang="en-US" sz="3200" dirty="0"/>
              <a:t> editions</a:t>
            </a:r>
          </a:p>
          <a:p>
            <a:pPr marL="266700" indent="0">
              <a:buNone/>
              <a:defRPr/>
            </a:pPr>
            <a:r>
              <a:rPr lang="en-US" sz="3200" dirty="0"/>
              <a:t>Matthias </a:t>
            </a:r>
            <a:r>
              <a:rPr lang="en-US" sz="3200" dirty="0" err="1"/>
              <a:t>Felleisen</a:t>
            </a:r>
            <a:r>
              <a:rPr lang="en-US" sz="3200" dirty="0"/>
              <a:t>, Robert Bruce </a:t>
            </a:r>
            <a:r>
              <a:rPr lang="en-US" sz="3200" dirty="0" err="1"/>
              <a:t>Findler</a:t>
            </a:r>
            <a:r>
              <a:rPr lang="en-US" sz="3200" dirty="0"/>
              <a:t>, Matthew Flatt, Shriram </a:t>
            </a:r>
            <a:r>
              <a:rPr lang="en-US" sz="3200" dirty="0" err="1"/>
              <a:t>Krishnamurthi</a:t>
            </a:r>
            <a:endParaRPr lang="en-US" sz="3200" dirty="0"/>
          </a:p>
          <a:p>
            <a:pPr marL="266700" indent="0">
              <a:buNone/>
              <a:defRPr/>
            </a:pPr>
            <a:endParaRPr lang="en-US" sz="3200" dirty="0"/>
          </a:p>
          <a:p>
            <a:pPr marL="266700" indent="0">
              <a:buNone/>
              <a:defRPr/>
            </a:pPr>
            <a:r>
              <a:rPr lang="en-US" sz="3200" dirty="0"/>
              <a:t>Racket-</a:t>
            </a:r>
            <a:r>
              <a:rPr lang="en-US" sz="3200" dirty="0" err="1"/>
              <a:t>lang.org</a:t>
            </a:r>
            <a:endParaRPr lang="en-US" sz="3200" dirty="0"/>
          </a:p>
          <a:p>
            <a:pPr marL="266700" indent="0">
              <a:buNone/>
              <a:defRPr/>
            </a:pPr>
            <a:r>
              <a:rPr lang="en-US" sz="3200" dirty="0"/>
              <a:t>Racket, </a:t>
            </a:r>
            <a:r>
              <a:rPr lang="en-US" sz="3200" dirty="0" err="1"/>
              <a:t>DrRacket</a:t>
            </a:r>
            <a:r>
              <a:rPr lang="en-US" sz="3200" dirty="0"/>
              <a:t>, and many embedded tools</a:t>
            </a:r>
          </a:p>
          <a:p>
            <a:pPr marL="266700" indent="0">
              <a:buNone/>
              <a:defRPr/>
            </a:pPr>
            <a:r>
              <a:rPr lang="en-US" sz="3200" dirty="0"/>
              <a:t>Above individuals plus many more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CA7C477-4AC7-9642-B1B2-538FEBA58AD5}"/>
              </a:ext>
            </a:extLst>
          </p:cNvPr>
          <p:cNvSpPr txBox="1">
            <a:spLocks/>
          </p:cNvSpPr>
          <p:nvPr/>
        </p:nvSpPr>
        <p:spPr bwMode="auto">
          <a:xfrm>
            <a:off x="10561638" y="214313"/>
            <a:ext cx="5487242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78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Gill Sans" panose="020B0502020104020203" pitchFamily="34" charset="-79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9pPr>
          </a:lstStyle>
          <a:p>
            <a:pPr>
              <a:defRPr/>
            </a:pPr>
            <a:r>
              <a:rPr lang="en-US"/>
              <a:t>Who?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0B5EFBC-EC7D-F262-3DED-0BB39FC37259}"/>
              </a:ext>
            </a:extLst>
          </p:cNvPr>
          <p:cNvSpPr txBox="1">
            <a:spLocks/>
          </p:cNvSpPr>
          <p:nvPr/>
        </p:nvSpPr>
        <p:spPr bwMode="auto">
          <a:xfrm>
            <a:off x="10561638" y="214313"/>
            <a:ext cx="5487242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78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Gill Sans" panose="020B0502020104020203" pitchFamily="34" charset="-79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9pPr>
          </a:lstStyle>
          <a:p>
            <a:pPr>
              <a:defRPr/>
            </a:pPr>
            <a:r>
              <a:rPr lang="en-US" dirty="0"/>
              <a:t>Who?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F09087-9B85-10E6-ED4F-4BEEB8B3B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4" y="2199084"/>
            <a:ext cx="2671229" cy="267122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10D2AFB-22F4-8657-2A66-177D27F1371B}"/>
              </a:ext>
            </a:extLst>
          </p:cNvPr>
          <p:cNvSpPr txBox="1">
            <a:spLocks/>
          </p:cNvSpPr>
          <p:nvPr/>
        </p:nvSpPr>
        <p:spPr bwMode="auto">
          <a:xfrm>
            <a:off x="2511425" y="1770063"/>
            <a:ext cx="13393439" cy="4573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>
            <a:lvl1pPr marL="838200" indent="-571500" algn="l" rtl="0" eaLnBrk="0" fontAlgn="base" hangingPunct="0">
              <a:spcBef>
                <a:spcPts val="23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anose="020B0502020104020203" pitchFamily="34" charset="-79"/>
              </a:defRPr>
            </a:lvl1pPr>
            <a:lvl2pPr marL="1282700" indent="-571500" algn="l" rtl="0" eaLnBrk="0" fontAlgn="base" hangingPunct="0">
              <a:spcBef>
                <a:spcPts val="23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anose="020B0502020104020203" pitchFamily="34" charset="-79"/>
              </a:defRPr>
            </a:lvl2pPr>
            <a:lvl3pPr marL="1727200" indent="-571500" algn="l" rtl="0" eaLnBrk="0" fontAlgn="base" hangingPunct="0">
              <a:spcBef>
                <a:spcPts val="23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anose="020B0502020104020203" pitchFamily="34" charset="-79"/>
              </a:defRPr>
            </a:lvl3pPr>
            <a:lvl4pPr marL="2171700" indent="-571500" algn="l" rtl="0" eaLnBrk="0" fontAlgn="base" hangingPunct="0">
              <a:spcBef>
                <a:spcPts val="23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anose="020B0502020104020203" pitchFamily="34" charset="-79"/>
              </a:defRPr>
            </a:lvl4pPr>
            <a:lvl5pPr marL="2616200" indent="-571500" algn="l" rtl="0" eaLnBrk="0" fontAlgn="base" hangingPunct="0">
              <a:spcBef>
                <a:spcPts val="23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anose="020B0502020104020203" pitchFamily="34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0">
              <a:buFont typeface="Gill Sans" panose="020B0502020104020203" pitchFamily="34" charset="-79"/>
              <a:buNone/>
              <a:defRPr/>
            </a:pPr>
            <a:br>
              <a:rPr lang="en-US" sz="2800" dirty="0"/>
            </a:br>
            <a:endParaRPr lang="en-US" sz="2800" dirty="0"/>
          </a:p>
          <a:p>
            <a:pPr marL="266700" indent="0">
              <a:buFont typeface="Gill Sans" panose="020B0502020104020203" pitchFamily="34" charset="-79"/>
              <a:buNone/>
              <a:defRPr/>
            </a:pPr>
            <a:r>
              <a:rPr lang="en-US" sz="2800" dirty="0"/>
              <a:t>Ronald Garcia (he/him/his)</a:t>
            </a:r>
            <a:br>
              <a:rPr lang="en-US" sz="2800" dirty="0"/>
            </a:br>
            <a:r>
              <a:rPr lang="en-US" sz="2800" dirty="0"/>
              <a:t>Professor of Computer Science</a:t>
            </a:r>
          </a:p>
          <a:p>
            <a:pPr marL="266700" indent="0">
              <a:buNone/>
              <a:defRPr/>
            </a:pPr>
            <a:r>
              <a:rPr lang="en-US" sz="2800" dirty="0"/>
              <a:t>Research in programming languages theory</a:t>
            </a:r>
            <a:br>
              <a:rPr lang="en-US" sz="2800" dirty="0"/>
            </a:br>
            <a:r>
              <a:rPr lang="en-US" sz="2400" dirty="0"/>
              <a:t>Metaprogramming</a:t>
            </a:r>
            <a:br>
              <a:rPr lang="en-US" sz="2400" dirty="0"/>
            </a:br>
            <a:r>
              <a:rPr lang="en-US" sz="2400" dirty="0"/>
              <a:t>Gradual Type Systems</a:t>
            </a:r>
            <a:br>
              <a:rPr lang="en-US" sz="2400" dirty="0"/>
            </a:br>
            <a:r>
              <a:rPr lang="en-US" sz="2400" dirty="0"/>
              <a:t>End-User Programming Languages</a:t>
            </a:r>
            <a:br>
              <a:rPr lang="en-US" sz="2400" dirty="0"/>
            </a:br>
            <a:r>
              <a:rPr lang="en-US" sz="2400" dirty="0"/>
              <a:t>Logical Methods</a:t>
            </a:r>
            <a:br>
              <a:rPr lang="en-US" sz="2400" dirty="0"/>
            </a:br>
            <a:r>
              <a:rPr lang="en-US" sz="2400" dirty="0"/>
              <a:t>See the </a:t>
            </a:r>
            <a:r>
              <a:rPr lang="en-US" sz="2400" dirty="0">
                <a:hlinkClick r:id="rId3"/>
              </a:rPr>
              <a:t>Course Team</a:t>
            </a:r>
            <a:r>
              <a:rPr lang="en-US" sz="2400" dirty="0"/>
              <a:t> page for contact info</a:t>
            </a:r>
          </a:p>
        </p:txBody>
      </p:sp>
    </p:spTree>
    <p:extLst>
      <p:ext uri="{BB962C8B-B14F-4D97-AF65-F5344CB8AC3E}">
        <p14:creationId xmlns:p14="http://schemas.microsoft.com/office/powerpoint/2010/main" val="45477561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23C0D-A7D3-04F5-9F78-C74420BD9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E6F56A-0B92-E7C7-B29D-961E4E53C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4" y="2203381"/>
            <a:ext cx="2659706" cy="265970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D5432-EF6D-2564-C360-35341641B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1425" y="1770063"/>
            <a:ext cx="13393439" cy="4573587"/>
          </a:xfrm>
        </p:spPr>
        <p:txBody>
          <a:bodyPr anchor="t"/>
          <a:lstStyle/>
          <a:p>
            <a:pPr marL="266700" indent="0">
              <a:buFont typeface="Gill Sans" panose="020B0502020104020203" pitchFamily="34" charset="-79"/>
              <a:buNone/>
              <a:defRPr/>
            </a:pPr>
            <a:br>
              <a:rPr lang="en-US" sz="2800" dirty="0"/>
            </a:br>
            <a:endParaRPr lang="en-US" sz="2800" dirty="0"/>
          </a:p>
          <a:p>
            <a:pPr marL="266700" indent="0">
              <a:buFont typeface="Gill Sans" panose="020B0502020104020203" pitchFamily="34" charset="-79"/>
              <a:buNone/>
              <a:defRPr/>
            </a:pPr>
            <a:r>
              <a:rPr lang="en-US" sz="2800" dirty="0" err="1"/>
              <a:t>Vsevelod</a:t>
            </a:r>
            <a:r>
              <a:rPr lang="en-US" sz="2800" dirty="0"/>
              <a:t> (Seva) Lynov</a:t>
            </a:r>
            <a:br>
              <a:rPr lang="en-US" sz="2800" dirty="0"/>
            </a:br>
            <a:r>
              <a:rPr lang="en-US" sz="2800" dirty="0"/>
              <a:t>Computer Science Lecturer</a:t>
            </a:r>
          </a:p>
          <a:p>
            <a:pPr marL="266700" indent="0">
              <a:buNone/>
              <a:defRPr/>
            </a:pPr>
            <a:r>
              <a:rPr lang="en-US" sz="2800" dirty="0"/>
              <a:t>See the </a:t>
            </a:r>
            <a:r>
              <a:rPr lang="en-US" sz="2800" dirty="0">
                <a:hlinkClick r:id="rId3"/>
              </a:rPr>
              <a:t>Course Team</a:t>
            </a:r>
            <a:r>
              <a:rPr lang="en-US" sz="2800" dirty="0"/>
              <a:t> page for contact info</a:t>
            </a:r>
            <a:br>
              <a:rPr lang="en-US" sz="2800" dirty="0"/>
            </a:br>
            <a:r>
              <a:rPr lang="en-US" sz="2800" dirty="0"/>
              <a:t>                                                  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1A83A93-E54E-33F5-2E7B-7832CEC42DBA}"/>
              </a:ext>
            </a:extLst>
          </p:cNvPr>
          <p:cNvSpPr txBox="1">
            <a:spLocks/>
          </p:cNvSpPr>
          <p:nvPr/>
        </p:nvSpPr>
        <p:spPr bwMode="auto">
          <a:xfrm>
            <a:off x="10561638" y="214313"/>
            <a:ext cx="5487242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78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Gill Sans" panose="020B0502020104020203" pitchFamily="34" charset="-79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9pPr>
          </a:lstStyle>
          <a:p>
            <a:pPr>
              <a:defRPr/>
            </a:pPr>
            <a:r>
              <a:rPr lang="en-US" dirty="0"/>
              <a:t>Who?</a:t>
            </a:r>
          </a:p>
        </p:txBody>
      </p:sp>
    </p:spTree>
    <p:extLst>
      <p:ext uri="{BB962C8B-B14F-4D97-AF65-F5344CB8AC3E}">
        <p14:creationId xmlns:p14="http://schemas.microsoft.com/office/powerpoint/2010/main" val="164533387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DBF1E-FE1F-9607-5E9D-14E6A29CD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11627A-17B2-D0E8-6FD3-00BBB1E65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4" y="2209348"/>
            <a:ext cx="2659706" cy="265970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542DF-F0B2-6579-ED04-5E7073D30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1425" y="1770063"/>
            <a:ext cx="13393439" cy="4573587"/>
          </a:xfrm>
        </p:spPr>
        <p:txBody>
          <a:bodyPr anchor="t"/>
          <a:lstStyle/>
          <a:p>
            <a:pPr marL="266700" indent="0">
              <a:buFont typeface="Gill Sans" panose="020B0502020104020203" pitchFamily="34" charset="-79"/>
              <a:buNone/>
              <a:defRPr/>
            </a:pPr>
            <a:br>
              <a:rPr lang="en-US" sz="2800" dirty="0"/>
            </a:br>
            <a:endParaRPr lang="en-US" sz="2800" dirty="0"/>
          </a:p>
          <a:p>
            <a:pPr marL="266700" indent="0">
              <a:buNone/>
              <a:defRPr/>
            </a:pPr>
            <a:r>
              <a:rPr lang="en-US" sz="2800" dirty="0"/>
              <a:t>Rik Blok</a:t>
            </a:r>
            <a:br>
              <a:rPr lang="en-US" sz="2800" dirty="0"/>
            </a:br>
            <a:r>
              <a:rPr lang="en-US" sz="2800" dirty="0"/>
              <a:t>Sessional Lecturer in CS since 2019</a:t>
            </a:r>
            <a:br>
              <a:rPr lang="en-US" sz="2800" dirty="0"/>
            </a:br>
            <a:r>
              <a:rPr lang="en-US" sz="2800" dirty="0"/>
              <a:t>Background in Statistical Physics</a:t>
            </a:r>
            <a:br>
              <a:rPr lang="en-US" sz="2800" dirty="0"/>
            </a:br>
            <a:r>
              <a:rPr lang="en-US" sz="2800" dirty="0"/>
              <a:t>Call me "Rik" \U0001f44b</a:t>
            </a:r>
            <a:br>
              <a:rPr lang="en-US" sz="2800" dirty="0"/>
            </a:br>
            <a:r>
              <a:rPr lang="en-US" sz="2800" dirty="0"/>
              <a:t>See the </a:t>
            </a:r>
            <a:r>
              <a:rPr lang="en-US" sz="2800" dirty="0">
                <a:hlinkClick r:id="rId3"/>
              </a:rPr>
              <a:t>Course Team</a:t>
            </a:r>
            <a:r>
              <a:rPr lang="en-US" sz="2800" dirty="0"/>
              <a:t> page for contact info</a:t>
            </a:r>
          </a:p>
          <a:p>
            <a:pPr marL="266700" indent="0">
              <a:buNone/>
              <a:defRPr/>
            </a:pPr>
            <a:r>
              <a:rPr lang="en-US" sz="2800" dirty="0"/>
              <a:t>                                                  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2499DB-F5E3-8B24-AE28-2AC01E9C3F88}"/>
              </a:ext>
            </a:extLst>
          </p:cNvPr>
          <p:cNvSpPr txBox="1">
            <a:spLocks/>
          </p:cNvSpPr>
          <p:nvPr/>
        </p:nvSpPr>
        <p:spPr bwMode="auto">
          <a:xfrm>
            <a:off x="10561638" y="214313"/>
            <a:ext cx="5487242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78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Gill Sans" panose="020B0502020104020203" pitchFamily="34" charset="-79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9pPr>
          </a:lstStyle>
          <a:p>
            <a:pPr>
              <a:defRPr/>
            </a:pPr>
            <a:r>
              <a:rPr lang="en-US" dirty="0"/>
              <a:t>Who?</a:t>
            </a:r>
          </a:p>
        </p:txBody>
      </p:sp>
    </p:spTree>
    <p:extLst>
      <p:ext uri="{BB962C8B-B14F-4D97-AF65-F5344CB8AC3E}">
        <p14:creationId xmlns:p14="http://schemas.microsoft.com/office/powerpoint/2010/main" val="293572049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E9E1B54-EED7-94C8-CE7A-F6A43C425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B4843C-72F4-E52B-3FCC-6630AB38B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4" y="2184246"/>
            <a:ext cx="2671228" cy="26712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96F8815-5A02-78D1-3713-4A59115C91E8}"/>
              </a:ext>
            </a:extLst>
          </p:cNvPr>
          <p:cNvSpPr txBox="1">
            <a:spLocks/>
          </p:cNvSpPr>
          <p:nvPr/>
        </p:nvSpPr>
        <p:spPr bwMode="auto">
          <a:xfrm>
            <a:off x="10561638" y="214313"/>
            <a:ext cx="5487242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78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Gill Sans" panose="020B0502020104020203" pitchFamily="34" charset="-79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9pPr>
          </a:lstStyle>
          <a:p>
            <a:pPr>
              <a:defRPr/>
            </a:pPr>
            <a:r>
              <a:rPr lang="en-US" dirty="0"/>
              <a:t>Who?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17990AD-CD15-8628-E2BF-887134CE6013}"/>
              </a:ext>
            </a:extLst>
          </p:cNvPr>
          <p:cNvSpPr txBox="1">
            <a:spLocks/>
          </p:cNvSpPr>
          <p:nvPr/>
        </p:nvSpPr>
        <p:spPr bwMode="auto">
          <a:xfrm>
            <a:off x="2511425" y="1770063"/>
            <a:ext cx="13393439" cy="4573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>
            <a:lvl1pPr marL="838200" indent="-571500" algn="l" rtl="0" eaLnBrk="0" fontAlgn="base" hangingPunct="0">
              <a:spcBef>
                <a:spcPts val="23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anose="020B0502020104020203" pitchFamily="34" charset="-79"/>
              </a:defRPr>
            </a:lvl1pPr>
            <a:lvl2pPr marL="1282700" indent="-571500" algn="l" rtl="0" eaLnBrk="0" fontAlgn="base" hangingPunct="0">
              <a:spcBef>
                <a:spcPts val="23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anose="020B0502020104020203" pitchFamily="34" charset="-79"/>
              </a:defRPr>
            </a:lvl2pPr>
            <a:lvl3pPr marL="1727200" indent="-571500" algn="l" rtl="0" eaLnBrk="0" fontAlgn="base" hangingPunct="0">
              <a:spcBef>
                <a:spcPts val="23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anose="020B0502020104020203" pitchFamily="34" charset="-79"/>
              </a:defRPr>
            </a:lvl3pPr>
            <a:lvl4pPr marL="2171700" indent="-571500" algn="l" rtl="0" eaLnBrk="0" fontAlgn="base" hangingPunct="0">
              <a:spcBef>
                <a:spcPts val="23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anose="020B0502020104020203" pitchFamily="34" charset="-79"/>
              </a:defRPr>
            </a:lvl4pPr>
            <a:lvl5pPr marL="2616200" indent="-571500" algn="l" rtl="0" eaLnBrk="0" fontAlgn="base" hangingPunct="0">
              <a:spcBef>
                <a:spcPts val="2300"/>
              </a:spcBef>
              <a:spcAft>
                <a:spcPct val="0"/>
              </a:spcAft>
              <a:buSzPct val="171000"/>
              <a:buFont typeface="Gill Sans" panose="020B0502020104020203" pitchFamily="34" charset="-79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Gill Sans" panose="020B0502020104020203" pitchFamily="34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0">
              <a:buFont typeface="Gill Sans" panose="020B0502020104020203" pitchFamily="34" charset="-79"/>
              <a:buNone/>
              <a:defRPr/>
            </a:pPr>
            <a:br>
              <a:rPr lang="en-US" sz="2800" dirty="0"/>
            </a:br>
            <a:endParaRPr lang="en-US" sz="2800" dirty="0"/>
          </a:p>
          <a:p>
            <a:pPr marL="266700" indent="0">
              <a:buFont typeface="Gill Sans" panose="020B0502020104020203" pitchFamily="34" charset="-79"/>
              <a:buNone/>
              <a:defRPr/>
            </a:pPr>
            <a:r>
              <a:rPr lang="en-US" sz="2800" dirty="0"/>
              <a:t>Nick Bradley (he/him/his)</a:t>
            </a:r>
            <a:br>
              <a:rPr lang="en-US" sz="2800" dirty="0"/>
            </a:br>
            <a:r>
              <a:rPr lang="en-US" sz="2800" dirty="0"/>
              <a:t>Computer Science Lecturer</a:t>
            </a:r>
          </a:p>
          <a:p>
            <a:pPr marL="266700" indent="0">
              <a:buFont typeface="Gill Sans" panose="020B0502020104020203" pitchFamily="34" charset="-79"/>
              <a:buNone/>
              <a:defRPr/>
            </a:pPr>
            <a:r>
              <a:rPr lang="en-US" sz="2800" dirty="0"/>
              <a:t>Research in software engineering</a:t>
            </a:r>
            <a:br>
              <a:rPr lang="en-US" sz="2800" dirty="0"/>
            </a:br>
            <a:r>
              <a:rPr lang="en-US" sz="2400" dirty="0"/>
              <a:t>Developer Productivity</a:t>
            </a:r>
            <a:br>
              <a:rPr lang="en-US" sz="2400" dirty="0"/>
            </a:br>
            <a:r>
              <a:rPr lang="en-US" sz="2400" dirty="0"/>
              <a:t>Developer-Tool Interaction</a:t>
            </a:r>
            <a:br>
              <a:rPr lang="en-US" sz="2400" dirty="0"/>
            </a:br>
            <a:r>
              <a:rPr lang="en-US" sz="2400" dirty="0"/>
              <a:t>Workflow Automation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7623161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EF09F-7F98-8642-BACA-8078B2947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1425" y="1770063"/>
            <a:ext cx="13393439" cy="4573587"/>
          </a:xfrm>
        </p:spPr>
        <p:txBody>
          <a:bodyPr anchor="t"/>
          <a:lstStyle/>
          <a:p>
            <a:pPr marL="266700" indent="0">
              <a:buFont typeface="Gill Sans" panose="020B0502020104020203" pitchFamily="34" charset="-79"/>
              <a:buNone/>
              <a:defRPr/>
            </a:pPr>
            <a:br>
              <a:rPr lang="en-US" sz="2800" dirty="0"/>
            </a:br>
            <a:endParaRPr lang="en-US" sz="2800" dirty="0"/>
          </a:p>
          <a:p>
            <a:pPr marL="266700" indent="0">
              <a:buFont typeface="Gill Sans" panose="020B0502020104020203" pitchFamily="34" charset="-79"/>
              <a:buNone/>
              <a:defRPr/>
            </a:pPr>
            <a:r>
              <a:rPr lang="en-US" sz="2800" dirty="0"/>
              <a:t>Emily Fuchs (she/they)</a:t>
            </a:r>
            <a:br>
              <a:rPr lang="en-US" sz="2800" dirty="0"/>
            </a:br>
            <a:r>
              <a:rPr lang="en-US" sz="2800" dirty="0"/>
              <a:t>Course Coordinator</a:t>
            </a:r>
          </a:p>
          <a:p>
            <a:pPr marL="266700" indent="0">
              <a:buFont typeface="Gill Sans" panose="020B0502020104020203" pitchFamily="34" charset="-79"/>
              <a:buNone/>
              <a:defRPr/>
            </a:pPr>
            <a:r>
              <a:rPr lang="en-US" sz="2800" dirty="0">
                <a:hlinkClick r:id="rId2"/>
              </a:rPr>
              <a:t>cpsc110-admin@cs.ubc.ca</a:t>
            </a:r>
            <a:r>
              <a:rPr lang="en-US" sz="2800" dirty="0"/>
              <a:t>     &lt;&lt;&lt; administrative questions go here</a:t>
            </a:r>
            <a:br>
              <a:rPr lang="en-US" sz="2800" dirty="0"/>
            </a:br>
            <a:r>
              <a:rPr lang="en-US" sz="2800" dirty="0"/>
              <a:t>                                                   Technical questions go to Piazza</a:t>
            </a:r>
            <a:br>
              <a:rPr lang="en-US" sz="2800" dirty="0"/>
            </a:br>
            <a:r>
              <a:rPr lang="en-US" sz="2800" dirty="0"/>
              <a:t>                                                   only sensitive personal issues go to instructor email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CA7C477-4AC7-9642-B1B2-538FEBA58AD5}"/>
              </a:ext>
            </a:extLst>
          </p:cNvPr>
          <p:cNvSpPr txBox="1">
            <a:spLocks/>
          </p:cNvSpPr>
          <p:nvPr/>
        </p:nvSpPr>
        <p:spPr bwMode="auto">
          <a:xfrm>
            <a:off x="10561638" y="214313"/>
            <a:ext cx="5487242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78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Gill Sans" panose="020B0502020104020203" pitchFamily="34" charset="-79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panose="020B0502020104020203" pitchFamily="34" charset="-79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7800">
                <a:solidFill>
                  <a:schemeClr val="tx1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9pPr>
          </a:lstStyle>
          <a:p>
            <a:pPr>
              <a:defRPr/>
            </a:pPr>
            <a:r>
              <a:rPr lang="en-US" dirty="0"/>
              <a:t>Who?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6691A-3CF5-5F4D-85CA-1023545A8D1C}"/>
              </a:ext>
            </a:extLst>
          </p:cNvPr>
          <p:cNvSpPr txBox="1"/>
          <p:nvPr/>
        </p:nvSpPr>
        <p:spPr>
          <a:xfrm>
            <a:off x="7839968" y="7092280"/>
            <a:ext cx="693978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+ 50 TAs who work on labs, office hours, Piazza,  and grading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395BED4-4D52-5441-8694-A4D667D78A79}"/>
              </a:ext>
            </a:extLst>
          </p:cNvPr>
          <p:cNvSpPr/>
          <p:nvPr/>
        </p:nvSpPr>
        <p:spPr bwMode="auto">
          <a:xfrm>
            <a:off x="2727400" y="3886374"/>
            <a:ext cx="3986411" cy="973658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ED9F98-86D4-1F17-697E-824AD1197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4" y="2199084"/>
            <a:ext cx="2671229" cy="267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85500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E65A-417C-084A-A558-1D5008D79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Who? (you)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78382-C239-2E43-80D8-17DD2EDB66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500" y="1763713"/>
            <a:ext cx="14389372" cy="5359400"/>
          </a:xfrm>
        </p:spPr>
        <p:txBody>
          <a:bodyPr anchor="t"/>
          <a:lstStyle/>
          <a:p>
            <a:r>
              <a:rPr lang="en-US" dirty="0"/>
              <a:t>By year: </a:t>
            </a:r>
          </a:p>
          <a:p>
            <a:pPr lvl="1"/>
            <a:r>
              <a:rPr lang="en-US" sz="2800" dirty="0"/>
              <a:t>1</a:t>
            </a:r>
            <a:r>
              <a:rPr lang="en-US" sz="2800" baseline="30000" dirty="0"/>
              <a:t>st</a:t>
            </a:r>
            <a:r>
              <a:rPr lang="en-US" sz="2800" dirty="0"/>
              <a:t>   ~60%</a:t>
            </a:r>
          </a:p>
          <a:p>
            <a:pPr lvl="1"/>
            <a:r>
              <a:rPr lang="en-US" sz="2800" dirty="0"/>
              <a:t>2</a:t>
            </a:r>
            <a:r>
              <a:rPr lang="en-US" sz="2800" baseline="30000" dirty="0"/>
              <a:t>nd</a:t>
            </a:r>
            <a:r>
              <a:rPr lang="en-US" sz="2800" dirty="0"/>
              <a:t>  ~20% </a:t>
            </a:r>
          </a:p>
          <a:p>
            <a:pPr lvl="1"/>
            <a:r>
              <a:rPr lang="en-US" sz="2800" dirty="0"/>
              <a:t>3</a:t>
            </a:r>
            <a:r>
              <a:rPr lang="en-US" sz="2800" baseline="30000" dirty="0"/>
              <a:t>rd</a:t>
            </a:r>
            <a:r>
              <a:rPr lang="en-US" sz="2800" dirty="0"/>
              <a:t>  ~15% </a:t>
            </a:r>
          </a:p>
          <a:p>
            <a:pPr lvl="1"/>
            <a:r>
              <a:rPr lang="en-US" sz="2800" dirty="0"/>
              <a:t>4</a:t>
            </a:r>
            <a:r>
              <a:rPr lang="en-US" sz="2800" baseline="30000" dirty="0"/>
              <a:t>th</a:t>
            </a:r>
            <a:r>
              <a:rPr lang="en-US" sz="2800" dirty="0"/>
              <a:t>   ~5%</a:t>
            </a:r>
          </a:p>
          <a:p>
            <a:pPr marL="266700" indent="0">
              <a:buNone/>
            </a:pPr>
            <a:endParaRPr lang="en-US" sz="1600" dirty="0"/>
          </a:p>
          <a:p>
            <a:r>
              <a:rPr lang="en-US" dirty="0"/>
              <a:t>No programming experience required</a:t>
            </a:r>
          </a:p>
          <a:p>
            <a:pPr lvl="1"/>
            <a:r>
              <a:rPr lang="en-US" sz="3200" dirty="0"/>
              <a:t>people with programming experience usually</a:t>
            </a:r>
            <a:br>
              <a:rPr lang="en-US" sz="3200" dirty="0"/>
            </a:br>
            <a:r>
              <a:rPr lang="en-US" sz="3200" dirty="0"/>
              <a:t>catch up to people with no programming </a:t>
            </a:r>
            <a:br>
              <a:rPr lang="en-US" sz="3200" dirty="0"/>
            </a:br>
            <a:r>
              <a:rPr lang="en-US" sz="3200" dirty="0"/>
              <a:t>experience in 3-4 weeks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649D0F-D0EB-DD11-0892-940704776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04200" y="1763713"/>
            <a:ext cx="6464300" cy="5359400"/>
          </a:xfrm>
        </p:spPr>
        <p:txBody>
          <a:bodyPr anchor="t"/>
          <a:lstStyle/>
          <a:p>
            <a:r>
              <a:rPr lang="en-US" dirty="0"/>
              <a:t>By program</a:t>
            </a:r>
          </a:p>
          <a:p>
            <a:pPr lvl="1"/>
            <a:r>
              <a:rPr lang="en-US" sz="2800" dirty="0"/>
              <a:t>BSC     50-60%</a:t>
            </a:r>
          </a:p>
          <a:p>
            <a:pPr lvl="1"/>
            <a:r>
              <a:rPr lang="en-US" sz="2800" dirty="0"/>
              <a:t>BA       ~30%</a:t>
            </a:r>
          </a:p>
          <a:p>
            <a:pPr lvl="1"/>
            <a:r>
              <a:rPr lang="en-US" sz="2800" dirty="0"/>
              <a:t>BCOM  ~5%</a:t>
            </a:r>
          </a:p>
          <a:p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112AAFF-A115-E615-80FC-9C499A57E84A}"/>
              </a:ext>
            </a:extLst>
          </p:cNvPr>
          <p:cNvGrpSpPr/>
          <p:nvPr/>
        </p:nvGrpSpPr>
        <p:grpSpPr>
          <a:xfrm>
            <a:off x="10864304" y="6300192"/>
            <a:ext cx="5383517" cy="2345334"/>
            <a:chOff x="10864304" y="6300192"/>
            <a:chExt cx="5383517" cy="2345334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BCF9CD9-4F35-025B-48B0-BC9AB9D2AE6C}"/>
                </a:ext>
              </a:extLst>
            </p:cNvPr>
            <p:cNvGrpSpPr/>
            <p:nvPr/>
          </p:nvGrpSpPr>
          <p:grpSpPr>
            <a:xfrm>
              <a:off x="10864304" y="6752272"/>
              <a:ext cx="2511773" cy="1893254"/>
              <a:chOff x="11664899" y="6660232"/>
              <a:chExt cx="2511773" cy="1893254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A767863C-9C62-4BA5-440B-458BC09FBF17}"/>
                  </a:ext>
                </a:extLst>
              </p:cNvPr>
              <p:cNvGrpSpPr/>
              <p:nvPr/>
            </p:nvGrpSpPr>
            <p:grpSpPr>
              <a:xfrm>
                <a:off x="13456592" y="7380287"/>
                <a:ext cx="720080" cy="1173199"/>
                <a:chOff x="12880528" y="7647272"/>
                <a:chExt cx="720080" cy="1173199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74897CFE-22CB-8C40-E091-4B3A7386174D}"/>
                    </a:ext>
                  </a:extLst>
                </p:cNvPr>
                <p:cNvSpPr/>
                <p:nvPr/>
              </p:nvSpPr>
              <p:spPr bwMode="auto">
                <a:xfrm>
                  <a:off x="12880528" y="7854048"/>
                  <a:ext cx="720080" cy="966423"/>
                </a:xfrm>
                <a:prstGeom prst="ellipse">
                  <a:avLst/>
                </a:prstGeom>
                <a:noFill/>
                <a:ln w="254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CE58ECDA-864E-B856-228C-2D763F1006B0}"/>
                    </a:ext>
                  </a:extLst>
                </p:cNvPr>
                <p:cNvSpPr/>
                <p:nvPr/>
              </p:nvSpPr>
              <p:spPr bwMode="auto">
                <a:xfrm>
                  <a:off x="13096552" y="8100392"/>
                  <a:ext cx="90240" cy="139337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A83D5945-A08C-27F4-D294-C87E4161A885}"/>
                    </a:ext>
                  </a:extLst>
                </p:cNvPr>
                <p:cNvSpPr/>
                <p:nvPr/>
              </p:nvSpPr>
              <p:spPr bwMode="auto">
                <a:xfrm>
                  <a:off x="13312576" y="8100392"/>
                  <a:ext cx="90240" cy="139337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09E1C22B-D5EB-59D2-12BB-E9ADFBE6A305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13024544" y="7698664"/>
                  <a:ext cx="90367" cy="185704"/>
                </a:xfrm>
                <a:prstGeom prst="lin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84A1B3EA-BC88-FF78-B9F9-A2559231EA3E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13201048" y="7647272"/>
                  <a:ext cx="47417" cy="206776"/>
                </a:xfrm>
                <a:prstGeom prst="lin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6B09B171-881B-0A16-7316-A17F12633B85}"/>
                    </a:ext>
                  </a:extLst>
                </p:cNvPr>
                <p:cNvCxnSpPr/>
                <p:nvPr/>
              </p:nvCxnSpPr>
              <p:spPr bwMode="auto">
                <a:xfrm flipV="1">
                  <a:off x="13364861" y="7666679"/>
                  <a:ext cx="70942" cy="207153"/>
                </a:xfrm>
                <a:prstGeom prst="lin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102B4457-D8D9-A4A1-452A-9C01C3CBA8E0}"/>
                    </a:ext>
                  </a:extLst>
                </p:cNvPr>
                <p:cNvCxnSpPr/>
                <p:nvPr/>
              </p:nvCxnSpPr>
              <p:spPr bwMode="auto">
                <a:xfrm flipV="1">
                  <a:off x="13456592" y="7740352"/>
                  <a:ext cx="90789" cy="200864"/>
                </a:xfrm>
                <a:prstGeom prst="lin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25" name="Rounded Rectangular Callout 24">
                <a:extLst>
                  <a:ext uri="{FF2B5EF4-FFF2-40B4-BE49-F238E27FC236}">
                    <a16:creationId xmlns:a16="http://schemas.microsoft.com/office/drawing/2014/main" id="{2C8D11F3-B731-FCE5-3916-BA0CD62E114C}"/>
                  </a:ext>
                </a:extLst>
              </p:cNvPr>
              <p:cNvSpPr/>
              <p:nvPr/>
            </p:nvSpPr>
            <p:spPr bwMode="auto">
              <a:xfrm>
                <a:off x="11664899" y="6660232"/>
                <a:ext cx="1647677" cy="801557"/>
              </a:xfrm>
              <a:prstGeom prst="wedgeRoundRectCallout">
                <a:avLst>
                  <a:gd name="adj1" fmla="val 51463"/>
                  <a:gd name="adj2" fmla="val 139672"/>
                  <a:gd name="adj3" fmla="val 16667"/>
                </a:avLst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2C7595-177D-28F9-352B-B1704787DFDB}"/>
                  </a:ext>
                </a:extLst>
              </p:cNvPr>
              <p:cNvSpPr txBox="1"/>
              <p:nvPr/>
            </p:nvSpPr>
            <p:spPr>
              <a:xfrm>
                <a:off x="11744203" y="6722974"/>
                <a:ext cx="157795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I know how to program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0329E8B-44F4-EB3D-8743-D070EDAFFCF1}"/>
                </a:ext>
              </a:extLst>
            </p:cNvPr>
            <p:cNvGrpSpPr/>
            <p:nvPr/>
          </p:nvGrpSpPr>
          <p:grpSpPr>
            <a:xfrm>
              <a:off x="13664040" y="6300192"/>
              <a:ext cx="2583781" cy="2345334"/>
              <a:chOff x="13600608" y="5981580"/>
              <a:chExt cx="2583781" cy="2345334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CF988710-671D-0E2A-2416-960F68E53D59}"/>
                  </a:ext>
                </a:extLst>
              </p:cNvPr>
              <p:cNvGrpSpPr/>
              <p:nvPr/>
            </p:nvGrpSpPr>
            <p:grpSpPr>
              <a:xfrm>
                <a:off x="13600608" y="7153715"/>
                <a:ext cx="720080" cy="1173199"/>
                <a:chOff x="12880528" y="7647272"/>
                <a:chExt cx="720080" cy="1173199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971E8634-A5A5-DC1C-2571-0225250847AA}"/>
                    </a:ext>
                  </a:extLst>
                </p:cNvPr>
                <p:cNvSpPr/>
                <p:nvPr/>
              </p:nvSpPr>
              <p:spPr bwMode="auto">
                <a:xfrm>
                  <a:off x="12880528" y="7854048"/>
                  <a:ext cx="720080" cy="966423"/>
                </a:xfrm>
                <a:prstGeom prst="ellipse">
                  <a:avLst/>
                </a:prstGeom>
                <a:noFill/>
                <a:ln w="254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A39B6E59-4608-0198-689B-8C5CEF5CD29E}"/>
                    </a:ext>
                  </a:extLst>
                </p:cNvPr>
                <p:cNvSpPr/>
                <p:nvPr/>
              </p:nvSpPr>
              <p:spPr bwMode="auto">
                <a:xfrm>
                  <a:off x="13096552" y="8100392"/>
                  <a:ext cx="90240" cy="139337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C0FB67EE-EFB9-F5BB-31F9-2DCB263FC564}"/>
                    </a:ext>
                  </a:extLst>
                </p:cNvPr>
                <p:cNvSpPr/>
                <p:nvPr/>
              </p:nvSpPr>
              <p:spPr bwMode="auto">
                <a:xfrm>
                  <a:off x="13312576" y="8100392"/>
                  <a:ext cx="90240" cy="139337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38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AABDD9D6-6B91-C5E4-911C-F837927A063F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13024544" y="7698664"/>
                  <a:ext cx="90367" cy="185704"/>
                </a:xfrm>
                <a:prstGeom prst="lin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45E33109-33E4-A5B7-258B-6A24801F14E3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13201048" y="7647272"/>
                  <a:ext cx="47417" cy="206776"/>
                </a:xfrm>
                <a:prstGeom prst="lin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3E3EAA19-A4B0-3DB9-760B-08D378CA23C5}"/>
                    </a:ext>
                  </a:extLst>
                </p:cNvPr>
                <p:cNvCxnSpPr/>
                <p:nvPr/>
              </p:nvCxnSpPr>
              <p:spPr bwMode="auto">
                <a:xfrm flipV="1">
                  <a:off x="13364861" y="7666679"/>
                  <a:ext cx="70942" cy="207153"/>
                </a:xfrm>
                <a:prstGeom prst="lin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F1DFFC64-74F3-46A0-49A3-4AD007264923}"/>
                    </a:ext>
                  </a:extLst>
                </p:cNvPr>
                <p:cNvCxnSpPr/>
                <p:nvPr/>
              </p:nvCxnSpPr>
              <p:spPr bwMode="auto">
                <a:xfrm flipV="1">
                  <a:off x="13456592" y="7740352"/>
                  <a:ext cx="90789" cy="200864"/>
                </a:xfrm>
                <a:prstGeom prst="line">
                  <a:avLst/>
                </a:prstGeom>
                <a:blipFill dpi="0" rotWithShape="0">
                  <a:blip r:embed="rId2"/>
                  <a:srcRect/>
                  <a:tile tx="0" ty="0" sx="100000" sy="100000" flip="none" algn="tl"/>
                </a:blip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30" name="Rounded Rectangular Callout 29">
                <a:extLst>
                  <a:ext uri="{FF2B5EF4-FFF2-40B4-BE49-F238E27FC236}">
                    <a16:creationId xmlns:a16="http://schemas.microsoft.com/office/drawing/2014/main" id="{62E7559A-846F-8358-01B8-B94D518EB9D5}"/>
                  </a:ext>
                </a:extLst>
              </p:cNvPr>
              <p:cNvSpPr/>
              <p:nvPr/>
            </p:nvSpPr>
            <p:spPr bwMode="auto">
              <a:xfrm>
                <a:off x="14536712" y="5981580"/>
                <a:ext cx="1647677" cy="1253637"/>
              </a:xfrm>
              <a:prstGeom prst="wedgeRoundRectCallout">
                <a:avLst>
                  <a:gd name="adj1" fmla="val -55600"/>
                  <a:gd name="adj2" fmla="val 115020"/>
                  <a:gd name="adj3" fmla="val 16667"/>
                </a:avLst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31FF5D4-2A31-80E7-A9D9-8620A6D4B5DF}"/>
                  </a:ext>
                </a:extLst>
              </p:cNvPr>
              <p:cNvSpPr txBox="1"/>
              <p:nvPr/>
            </p:nvSpPr>
            <p:spPr>
              <a:xfrm>
                <a:off x="14536712" y="6100566"/>
                <a:ext cx="157795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I don’t - I’m ahead</a:t>
                </a:r>
                <a:br>
                  <a:rPr lang="en-US" sz="2000" dirty="0"/>
                </a:br>
                <a:r>
                  <a:rPr lang="en-US" sz="2000" dirty="0"/>
                  <a:t>of you!</a:t>
                </a: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1A1C962-5E17-F169-0B21-820BC3B9875F}"/>
              </a:ext>
            </a:extLst>
          </p:cNvPr>
          <p:cNvSpPr txBox="1"/>
          <p:nvPr/>
        </p:nvSpPr>
        <p:spPr>
          <a:xfrm>
            <a:off x="9925807" y="510516"/>
            <a:ext cx="51723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a couple years ago</a:t>
            </a:r>
          </a:p>
        </p:txBody>
      </p:sp>
    </p:spTree>
    <p:extLst>
      <p:ext uri="{BB962C8B-B14F-4D97-AF65-F5344CB8AC3E}">
        <p14:creationId xmlns:p14="http://schemas.microsoft.com/office/powerpoint/2010/main" val="324585168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0CD06-DC76-9443-8712-CDD75C246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258D6-DF97-2142-BFFF-02BB6FE39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638" y="4279709"/>
            <a:ext cx="15049672" cy="4639320"/>
          </a:xfrm>
        </p:spPr>
        <p:txBody>
          <a:bodyPr/>
          <a:lstStyle/>
          <a:p>
            <a:r>
              <a:rPr lang="en-US" dirty="0"/>
              <a:t>Apollo moon mission software development lead</a:t>
            </a:r>
          </a:p>
          <a:p>
            <a:pPr lvl="1"/>
            <a:r>
              <a:rPr lang="en-US" dirty="0"/>
              <a:t>“How can I be sure the software will work so that people don’t die?”</a:t>
            </a:r>
          </a:p>
          <a:p>
            <a:r>
              <a:rPr lang="en-US" dirty="0"/>
              <a:t>Foundations of software engineering</a:t>
            </a:r>
          </a:p>
          <a:p>
            <a:pPr lvl="1"/>
            <a:r>
              <a:rPr lang="en-US" dirty="0"/>
              <a:t>more than just programming</a:t>
            </a:r>
            <a:br>
              <a:rPr lang="en-CA" dirty="0"/>
            </a:b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008871-97C8-5A4B-B6C6-8AF022D42D19}"/>
              </a:ext>
            </a:extLst>
          </p:cNvPr>
          <p:cNvGrpSpPr/>
          <p:nvPr/>
        </p:nvGrpSpPr>
        <p:grpSpPr>
          <a:xfrm>
            <a:off x="6471817" y="754802"/>
            <a:ext cx="8630778" cy="3468928"/>
            <a:chOff x="7993357" y="3707904"/>
            <a:chExt cx="5978618" cy="240295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66E2E35-9ED3-DD47-8951-49DABA25F1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3188" r="8639" b="15332"/>
            <a:stretch/>
          </p:blipFill>
          <p:spPr>
            <a:xfrm>
              <a:off x="11728400" y="3707904"/>
              <a:ext cx="2243575" cy="229515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F5C4A2B-B979-5A49-BA2F-7A4AE7271F9C}"/>
                </a:ext>
              </a:extLst>
            </p:cNvPr>
            <p:cNvSpPr txBox="1"/>
            <p:nvPr/>
          </p:nvSpPr>
          <p:spPr>
            <a:xfrm>
              <a:off x="7993357" y="5449943"/>
              <a:ext cx="3495529" cy="660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Margaret Hamilton accepting US Presidential Medal of Freedom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35733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E65A-417C-084A-A558-1D5008D79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ideas (1/5)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78382-C239-2E43-80D8-17DD2EDB6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500" y="2273920"/>
            <a:ext cx="13081000" cy="6042496"/>
          </a:xfrm>
        </p:spPr>
        <p:txBody>
          <a:bodyPr anchor="t"/>
          <a:lstStyle/>
          <a:p>
            <a:r>
              <a:rPr lang="en-US" dirty="0"/>
              <a:t>Code that works properly is not nearly good enough</a:t>
            </a:r>
          </a:p>
          <a:p>
            <a:pPr lvl="1"/>
            <a:r>
              <a:rPr lang="en-US" sz="2800" dirty="0"/>
              <a:t>Need to be able to explain how you developed it</a:t>
            </a:r>
          </a:p>
          <a:p>
            <a:pPr lvl="1"/>
            <a:r>
              <a:rPr lang="en-US" sz="2800" dirty="0"/>
              <a:t>Need to be able to explain why you are confident it works properly</a:t>
            </a:r>
          </a:p>
          <a:p>
            <a:pPr lvl="1"/>
            <a:r>
              <a:rPr lang="en-US" sz="2800" dirty="0"/>
              <a:t>Need to be able to reliably produce similar programs</a:t>
            </a:r>
          </a:p>
          <a:p>
            <a:r>
              <a:rPr lang="en-US" dirty="0"/>
              <a:t>Software development is a team activity</a:t>
            </a:r>
          </a:p>
          <a:p>
            <a:r>
              <a:rPr lang="en-US" dirty="0"/>
              <a:t>How we work determines what we produce</a:t>
            </a:r>
            <a:endParaRPr lang="en-US" sz="2800" dirty="0"/>
          </a:p>
          <a:p>
            <a:r>
              <a:rPr lang="en-US" dirty="0"/>
              <a:t>Representing information as data</a:t>
            </a:r>
          </a:p>
          <a:p>
            <a:r>
              <a:rPr lang="en-US" dirty="0"/>
              <a:t>Programs have structure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B9121-71A7-095A-02B0-B487EF326C8E}"/>
              </a:ext>
            </a:extLst>
          </p:cNvPr>
          <p:cNvSpPr txBox="1"/>
          <p:nvPr/>
        </p:nvSpPr>
        <p:spPr>
          <a:xfrm>
            <a:off x="10360248" y="241300"/>
            <a:ext cx="554461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quickly today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but you will hear these throughout the course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827AE2B-E976-F789-5373-430691F393DA}"/>
              </a:ext>
            </a:extLst>
          </p:cNvPr>
          <p:cNvSpPr/>
          <p:nvPr/>
        </p:nvSpPr>
        <p:spPr bwMode="auto">
          <a:xfrm>
            <a:off x="1431256" y="2087959"/>
            <a:ext cx="11809312" cy="3132113"/>
          </a:xfrm>
          <a:prstGeom prst="roundRect">
            <a:avLst/>
          </a:prstGeom>
          <a:noFill/>
          <a:ln w="539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01646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E65A-417C-084A-A558-1D5008D79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ideas (2/5)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78382-C239-2E43-80D8-17DD2EDB6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500" y="2273920"/>
            <a:ext cx="13081000" cy="6042496"/>
          </a:xfrm>
        </p:spPr>
        <p:txBody>
          <a:bodyPr anchor="t"/>
          <a:lstStyle/>
          <a:p>
            <a:r>
              <a:rPr lang="en-US" dirty="0"/>
              <a:t>Code that works properly is not nearly good enough</a:t>
            </a:r>
          </a:p>
          <a:p>
            <a:r>
              <a:rPr lang="en-US" dirty="0"/>
              <a:t>Software development is a team activity</a:t>
            </a:r>
          </a:p>
          <a:p>
            <a:pPr lvl="1"/>
            <a:r>
              <a:rPr lang="en-US" sz="2800" dirty="0">
                <a:sym typeface="Gill Sans" charset="0"/>
              </a:rPr>
              <a:t>useful programs always have to be modified by other programmers later </a:t>
            </a:r>
          </a:p>
          <a:p>
            <a:pPr lvl="1"/>
            <a:r>
              <a:rPr lang="en-US" sz="2800" dirty="0"/>
              <a:t>being </a:t>
            </a:r>
            <a:r>
              <a:rPr lang="en-US" sz="2800" u="sng" dirty="0"/>
              <a:t>kind to other developers</a:t>
            </a:r>
            <a:r>
              <a:rPr lang="en-US" sz="2800" dirty="0"/>
              <a:t> is essential to success</a:t>
            </a:r>
          </a:p>
          <a:p>
            <a:pPr lvl="1"/>
            <a:r>
              <a:rPr lang="en-US" sz="2800" dirty="0"/>
              <a:t>applies to the code we produce, the questions we ask, the answers we give</a:t>
            </a:r>
          </a:p>
          <a:p>
            <a:r>
              <a:rPr lang="en-US" dirty="0"/>
              <a:t>How we work determines what we produce</a:t>
            </a:r>
            <a:endParaRPr lang="en-US" sz="2800" dirty="0"/>
          </a:p>
          <a:p>
            <a:r>
              <a:rPr lang="en-US" dirty="0"/>
              <a:t>Representing information as data</a:t>
            </a:r>
          </a:p>
          <a:p>
            <a:r>
              <a:rPr lang="en-US" dirty="0"/>
              <a:t>Programs have structure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24993-DC52-0042-B697-614829532B7C}"/>
              </a:ext>
            </a:extLst>
          </p:cNvPr>
          <p:cNvSpPr txBox="1"/>
          <p:nvPr/>
        </p:nvSpPr>
        <p:spPr>
          <a:xfrm>
            <a:off x="10720288" y="7308304"/>
            <a:ext cx="52086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kindness starts on Piazza!</a:t>
            </a:r>
          </a:p>
        </p:txBody>
      </p:sp>
    </p:spTree>
    <p:extLst>
      <p:ext uri="{BB962C8B-B14F-4D97-AF65-F5344CB8AC3E}">
        <p14:creationId xmlns:p14="http://schemas.microsoft.com/office/powerpoint/2010/main" val="96168729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E65A-417C-084A-A558-1D5008D79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ideas (3/5)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78382-C239-2E43-80D8-17DD2EDB6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500" y="2273920"/>
            <a:ext cx="13081000" cy="6042496"/>
          </a:xfrm>
        </p:spPr>
        <p:txBody>
          <a:bodyPr anchor="t"/>
          <a:lstStyle/>
          <a:p>
            <a:r>
              <a:rPr lang="en-US" dirty="0"/>
              <a:t>Code that works properly is not nearly good enough</a:t>
            </a:r>
          </a:p>
          <a:p>
            <a:r>
              <a:rPr lang="en-US" dirty="0"/>
              <a:t>Software development is a team activity</a:t>
            </a:r>
            <a:endParaRPr lang="en-US" sz="2800" dirty="0"/>
          </a:p>
          <a:p>
            <a:r>
              <a:rPr lang="en-US" dirty="0"/>
              <a:t>How we work determines what we produce</a:t>
            </a:r>
          </a:p>
          <a:p>
            <a:pPr lvl="1"/>
            <a:r>
              <a:rPr lang="en-US" sz="2800" dirty="0"/>
              <a:t>we can’t rely on jolts of brilliance</a:t>
            </a:r>
          </a:p>
          <a:p>
            <a:pPr lvl="1"/>
            <a:r>
              <a:rPr lang="en-US" sz="2800" dirty="0"/>
              <a:t>ACM Code of Ethics 2.1</a:t>
            </a:r>
            <a:br>
              <a:rPr lang="en-US" sz="2800" dirty="0"/>
            </a:br>
            <a:r>
              <a:rPr lang="en-CA" sz="2800" i="1" dirty="0"/>
              <a:t>Strive to achieve high quality in both the processes and products of professional work.</a:t>
            </a:r>
          </a:p>
          <a:p>
            <a:r>
              <a:rPr lang="en-US" dirty="0"/>
              <a:t>Representing information as data</a:t>
            </a:r>
          </a:p>
          <a:p>
            <a:r>
              <a:rPr lang="en-US" dirty="0"/>
              <a:t>Programs have structure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0954356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E65A-417C-084A-A558-1D5008D79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ideas (4/5)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78382-C239-2E43-80D8-17DD2EDB6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500" y="2273920"/>
            <a:ext cx="13081000" cy="6042496"/>
          </a:xfrm>
        </p:spPr>
        <p:txBody>
          <a:bodyPr anchor="t"/>
          <a:lstStyle/>
          <a:p>
            <a:r>
              <a:rPr lang="en-US" dirty="0"/>
              <a:t>Code that works properly is not nearly good enough</a:t>
            </a:r>
          </a:p>
          <a:p>
            <a:r>
              <a:rPr lang="en-US" dirty="0"/>
              <a:t>Software development is a team activity</a:t>
            </a:r>
          </a:p>
          <a:p>
            <a:r>
              <a:rPr lang="en-US" dirty="0"/>
              <a:t>How we work determines what we produce</a:t>
            </a:r>
          </a:p>
          <a:p>
            <a:r>
              <a:rPr lang="en-US" dirty="0"/>
              <a:t>Representing information as data</a:t>
            </a:r>
          </a:p>
          <a:p>
            <a:pPr lvl="1"/>
            <a:r>
              <a:rPr lang="en-US" sz="2800" dirty="0"/>
              <a:t>information is out there in the world</a:t>
            </a:r>
            <a:endParaRPr lang="en-US" dirty="0"/>
          </a:p>
          <a:p>
            <a:pPr lvl="1"/>
            <a:r>
              <a:rPr lang="en-US" sz="2800" dirty="0"/>
              <a:t>programs operate on data inside the computer that represents that information</a:t>
            </a:r>
            <a:endParaRPr lang="en-US" dirty="0"/>
          </a:p>
          <a:p>
            <a:r>
              <a:rPr lang="en-US" dirty="0"/>
              <a:t>Programs have structure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5126437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E65A-417C-084A-A558-1D5008D79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ideas (5/5)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78382-C239-2E43-80D8-17DD2EDB6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500" y="2273920"/>
            <a:ext cx="13081000" cy="6042496"/>
          </a:xfrm>
        </p:spPr>
        <p:txBody>
          <a:bodyPr anchor="t"/>
          <a:lstStyle/>
          <a:p>
            <a:r>
              <a:rPr lang="en-US" dirty="0"/>
              <a:t>Code that works properly is not nearly good enough</a:t>
            </a:r>
          </a:p>
          <a:p>
            <a:r>
              <a:rPr lang="en-US" dirty="0"/>
              <a:t>Software development is a team activity</a:t>
            </a:r>
          </a:p>
          <a:p>
            <a:r>
              <a:rPr lang="en-US" dirty="0"/>
              <a:t>How we work determines what we produce</a:t>
            </a:r>
          </a:p>
          <a:p>
            <a:r>
              <a:rPr lang="en-US" dirty="0"/>
              <a:t>Representing information as data</a:t>
            </a:r>
          </a:p>
          <a:p>
            <a:r>
              <a:rPr lang="en-US" dirty="0"/>
              <a:t>Programs have structure</a:t>
            </a:r>
          </a:p>
          <a:p>
            <a:pPr lvl="1"/>
            <a:r>
              <a:rPr lang="en-US" sz="2800" dirty="0"/>
              <a:t>of different kinds</a:t>
            </a:r>
          </a:p>
          <a:p>
            <a:pPr lvl="1"/>
            <a:r>
              <a:rPr lang="en-US" sz="2800" dirty="0"/>
              <a:t>local and crosscutting</a:t>
            </a:r>
          </a:p>
          <a:p>
            <a:pPr lvl="1"/>
            <a:r>
              <a:rPr lang="en-US" sz="2800" dirty="0"/>
              <a:t>being able to design in terms of that structure is powerful</a:t>
            </a:r>
          </a:p>
        </p:txBody>
      </p:sp>
    </p:spTree>
    <p:extLst>
      <p:ext uri="{BB962C8B-B14F-4D97-AF65-F5344CB8AC3E}">
        <p14:creationId xmlns:p14="http://schemas.microsoft.com/office/powerpoint/2010/main" val="31012461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D161DB9-8EE3-EE4F-9778-928B80F621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87500" y="2603500"/>
            <a:ext cx="13779500" cy="5359400"/>
          </a:xfrm>
        </p:spPr>
        <p:txBody>
          <a:bodyPr/>
          <a:lstStyle/>
          <a:p>
            <a:pPr marL="889000" eaLnBrk="1" hangingPunct="1">
              <a:spcBef>
                <a:spcPct val="0"/>
              </a:spcBef>
              <a:buFont typeface="Gill Sans" charset="0"/>
              <a:buChar char="•"/>
              <a:defRPr/>
            </a:pPr>
            <a:r>
              <a:rPr lang="en-US" altLang="x-none" sz="3600" dirty="0">
                <a:sym typeface="Gill Sans" charset="0"/>
              </a:rPr>
              <a:t>Working systematically can reliably produce well written, consistent, and well tested programs.</a:t>
            </a:r>
            <a:endParaRPr lang="en-US" altLang="en-US" sz="3600" dirty="0">
              <a:sym typeface="Gill Sans" charset="0"/>
            </a:endParaRPr>
          </a:p>
          <a:p>
            <a:pPr marL="889000">
              <a:buFont typeface="Gill Sans" charset="0"/>
              <a:buChar char="•"/>
              <a:defRPr/>
            </a:pPr>
            <a:r>
              <a:rPr lang="en-US" altLang="x-none" sz="3600" dirty="0">
                <a:sym typeface="Gill Sans" charset="0"/>
              </a:rPr>
              <a:t>Based on research and practice in programming languages and software engineering.</a:t>
            </a:r>
          </a:p>
          <a:p>
            <a:pPr marL="889000">
              <a:buFont typeface="Gill Sans" charset="0"/>
              <a:buChar char="•"/>
              <a:defRPr/>
            </a:pPr>
            <a:r>
              <a:rPr lang="en-US" altLang="x-none" sz="3600" dirty="0">
                <a:sym typeface="Gill Sans" charset="0"/>
              </a:rPr>
              <a:t>Provides a foundation for professional software development</a:t>
            </a:r>
          </a:p>
          <a:p>
            <a:pPr marL="889000">
              <a:buFont typeface="Gill Sans" charset="0"/>
              <a:buChar char="•"/>
              <a:defRPr/>
            </a:pPr>
            <a:r>
              <a:rPr lang="en-US" altLang="x-none" sz="3600" dirty="0">
                <a:sym typeface="Gill Sans" charset="0"/>
              </a:rPr>
              <a:t>Also relevant if you are NOT intending to be a software developer</a:t>
            </a:r>
          </a:p>
          <a:p>
            <a:pPr marL="1333500" lvl="1">
              <a:buFont typeface="Gill Sans" charset="0"/>
              <a:buChar char="•"/>
              <a:defRPr/>
            </a:pPr>
            <a:r>
              <a:rPr lang="en-US" altLang="x-none" sz="3600" dirty="0">
                <a:sym typeface="Gill Sans" charset="0"/>
              </a:rPr>
              <a:t>helpful for programs of all sizes, including 2 page quick programs</a:t>
            </a:r>
          </a:p>
          <a:p>
            <a:pPr marL="1333500" lvl="1">
              <a:buFont typeface="Gill Sans" charset="0"/>
              <a:buChar char="•"/>
              <a:defRPr/>
            </a:pPr>
            <a:r>
              <a:rPr lang="en-US" altLang="x-none" sz="3600" dirty="0">
                <a:sym typeface="Gill Sans" charset="0"/>
              </a:rPr>
              <a:t>underlying ideas help with all kinds of problem solving and design</a:t>
            </a:r>
            <a:endParaRPr lang="en-US" altLang="en-US" sz="3600" dirty="0">
              <a:sym typeface="Gill Sans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E4DD8DE-D5E3-B24A-B098-D85183E30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38" y="241300"/>
            <a:ext cx="14258130" cy="1522413"/>
          </a:xfrm>
        </p:spPr>
        <p:txBody>
          <a:bodyPr/>
          <a:lstStyle/>
          <a:p>
            <a:r>
              <a:rPr lang="en-US" dirty="0"/>
              <a:t>Systematic Program Design (SPD)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E4DD8DE-D5E3-B24A-B098-D85183E30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38" y="241300"/>
            <a:ext cx="14906202" cy="1522413"/>
          </a:xfrm>
        </p:spPr>
        <p:txBody>
          <a:bodyPr/>
          <a:lstStyle/>
          <a:p>
            <a:r>
              <a:rPr lang="en-US" sz="7200" dirty="0"/>
              <a:t>What about </a:t>
            </a:r>
            <a:r>
              <a:rPr lang="en-US" sz="7200" dirty="0" err="1"/>
              <a:t>ChatGPT</a:t>
            </a:r>
            <a:r>
              <a:rPr lang="en-US" sz="7200" dirty="0"/>
              <a:t> (generative AI)?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D49D4C-DC0A-0CF6-8173-B1D5082F58CD}"/>
              </a:ext>
            </a:extLst>
          </p:cNvPr>
          <p:cNvSpPr txBox="1"/>
          <p:nvPr/>
        </p:nvSpPr>
        <p:spPr>
          <a:xfrm>
            <a:off x="782638" y="1763713"/>
            <a:ext cx="10160602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000" dirty="0">
                <a:sym typeface="Gill Sans" charset="0"/>
              </a:rPr>
              <a:t>What happens if you copy code from </a:t>
            </a:r>
            <a:r>
              <a:rPr lang="en-US" altLang="en-US" sz="4000" dirty="0" err="1">
                <a:sym typeface="Gill Sans" charset="0"/>
              </a:rPr>
              <a:t>ChatGPT</a:t>
            </a:r>
            <a:r>
              <a:rPr lang="en-US" altLang="en-US" sz="4000" dirty="0">
                <a:sym typeface="Gill Sans" charset="0"/>
              </a:rPr>
              <a:t>?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ED6726-EFA4-D975-8663-EF16C8989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500" y="2633960"/>
            <a:ext cx="13081000" cy="6042496"/>
          </a:xfrm>
        </p:spPr>
        <p:txBody>
          <a:bodyPr anchor="t"/>
          <a:lstStyle/>
          <a:p>
            <a:r>
              <a:rPr lang="en-US" sz="2800" dirty="0"/>
              <a:t>Generative AI is going to end up playing a big role, but can you:</a:t>
            </a:r>
          </a:p>
          <a:p>
            <a:pPr lvl="1"/>
            <a:r>
              <a:rPr lang="en-US" sz="2800" dirty="0"/>
              <a:t>explain how you developed it?</a:t>
            </a:r>
          </a:p>
          <a:p>
            <a:pPr lvl="1"/>
            <a:r>
              <a:rPr lang="en-US" sz="2800" dirty="0"/>
              <a:t>explain why you are confident it works properly?</a:t>
            </a:r>
          </a:p>
          <a:p>
            <a:pPr lvl="1"/>
            <a:r>
              <a:rPr lang="en-US" sz="2800" dirty="0"/>
              <a:t>reliably produce similar programs?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From someone who worked at Tesla: you would be fired</a:t>
            </a:r>
          </a:p>
          <a:p>
            <a:pPr lvl="1"/>
            <a:r>
              <a:rPr lang="en-US" sz="2800" dirty="0"/>
              <a:t>do you want (your) life critical code copied out of </a:t>
            </a:r>
            <a:r>
              <a:rPr lang="en-US" sz="2800" dirty="0" err="1"/>
              <a:t>ChatGPT</a:t>
            </a:r>
            <a:r>
              <a:rPr lang="en-US" sz="2800" dirty="0"/>
              <a:t>?</a:t>
            </a:r>
          </a:p>
          <a:p>
            <a:r>
              <a:rPr lang="en-US" sz="2800" dirty="0"/>
              <a:t>In 110 it is academic misconduct – aka cheating</a:t>
            </a:r>
          </a:p>
        </p:txBody>
      </p:sp>
    </p:spTree>
    <p:extLst>
      <p:ext uri="{BB962C8B-B14F-4D97-AF65-F5344CB8AC3E}">
        <p14:creationId xmlns:p14="http://schemas.microsoft.com/office/powerpoint/2010/main" val="6065280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>
            <a:extLst>
              <a:ext uri="{FF2B5EF4-FFF2-40B4-BE49-F238E27FC236}">
                <a16:creationId xmlns:a16="http://schemas.microsoft.com/office/drawing/2014/main" id="{8D010D2A-AA24-6B43-946A-0B38CFED98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9000" y="241300"/>
            <a:ext cx="14478000" cy="2286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>
                <a:sym typeface="Gill Sans" charset="0"/>
              </a:rPr>
              <a:t>Basic course structure</a:t>
            </a: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AD161DB9-8EE3-EE4F-9778-928B80F621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87500" y="2603500"/>
            <a:ext cx="13957324" cy="5359400"/>
          </a:xfrm>
        </p:spPr>
        <p:txBody>
          <a:bodyPr/>
          <a:lstStyle/>
          <a:p>
            <a:pPr marL="1333500" lvl="1" eaLnBrk="1" hangingPunct="1">
              <a:spcBef>
                <a:spcPct val="0"/>
              </a:spcBef>
              <a:buFont typeface="Gill Sans" charset="0"/>
              <a:buChar char="•"/>
              <a:defRPr/>
            </a:pPr>
            <a:endParaRPr lang="en-US" altLang="en-US" sz="3700" dirty="0">
              <a:sym typeface="Gill Sans" charset="0"/>
            </a:endParaRPr>
          </a:p>
          <a:p>
            <a:pPr marL="889000" eaLnBrk="1" hangingPunct="1">
              <a:spcBef>
                <a:spcPct val="0"/>
              </a:spcBef>
              <a:buFont typeface="Gill Sans" charset="0"/>
              <a:buChar char="•"/>
              <a:defRPr/>
            </a:pPr>
            <a:r>
              <a:rPr lang="en-US" altLang="x-none" sz="4000" dirty="0">
                <a:sym typeface="Gill Sans" charset="0"/>
              </a:rPr>
              <a:t>First we use easy problems to learn SPD</a:t>
            </a:r>
          </a:p>
          <a:p>
            <a:pPr marL="1333500" lvl="1" eaLnBrk="1" hangingPunct="1">
              <a:spcBef>
                <a:spcPct val="0"/>
              </a:spcBef>
              <a:buFont typeface="Gill Sans" charset="0"/>
              <a:buChar char="•"/>
              <a:defRPr/>
            </a:pPr>
            <a:r>
              <a:rPr lang="en-US" altLang="x-none" sz="4000" dirty="0">
                <a:sym typeface="Gill Sans" charset="0"/>
              </a:rPr>
              <a:t>then we use SPD to solve difficult problems</a:t>
            </a:r>
          </a:p>
          <a:p>
            <a:pPr marL="889000" eaLnBrk="1" hangingPunct="1">
              <a:spcBef>
                <a:spcPct val="0"/>
              </a:spcBef>
              <a:buFont typeface="Gill Sans" charset="0"/>
              <a:buChar char="•"/>
              <a:defRPr/>
            </a:pPr>
            <a:endParaRPr lang="en-US" altLang="x-none" sz="4000" dirty="0">
              <a:sym typeface="Gill Sans" charset="0"/>
            </a:endParaRPr>
          </a:p>
          <a:p>
            <a:pPr marL="889000" eaLnBrk="1" hangingPunct="1">
              <a:spcBef>
                <a:spcPct val="0"/>
              </a:spcBef>
              <a:defRPr/>
            </a:pPr>
            <a:r>
              <a:rPr lang="en-US" altLang="x-none" sz="4000" dirty="0">
                <a:sym typeface="Gill Sans" charset="0"/>
              </a:rPr>
              <a:t>That cycle happens every lecture, every week, across the term</a:t>
            </a:r>
            <a:endParaRPr lang="en-US" altLang="x-none" sz="3700" dirty="0">
              <a:sym typeface="Gill Sans" charset="0"/>
            </a:endParaRPr>
          </a:p>
          <a:p>
            <a:pPr marL="1333500" lvl="1" eaLnBrk="1" hangingPunct="1">
              <a:spcBef>
                <a:spcPct val="0"/>
              </a:spcBef>
              <a:defRPr/>
            </a:pPr>
            <a:r>
              <a:rPr lang="en-US" altLang="en-US" sz="3700" dirty="0">
                <a:sym typeface="Gill Sans" charset="0"/>
              </a:rPr>
              <a:t>lecture starts w/ easy problem, then harder</a:t>
            </a:r>
          </a:p>
          <a:p>
            <a:pPr marL="1333500" lvl="1" eaLnBrk="1" hangingPunct="1">
              <a:spcBef>
                <a:spcPct val="0"/>
              </a:spcBef>
              <a:defRPr/>
            </a:pPr>
            <a:r>
              <a:rPr lang="en-US" altLang="en-US" sz="3700" dirty="0">
                <a:sym typeface="Gill Sans" charset="0"/>
              </a:rPr>
              <a:t>module starts w/ easy problems, then harder</a:t>
            </a:r>
          </a:p>
          <a:p>
            <a:pPr marL="1333500" lvl="1" eaLnBrk="1" hangingPunct="1">
              <a:spcBef>
                <a:spcPct val="0"/>
              </a:spcBef>
              <a:defRPr/>
            </a:pPr>
            <a:r>
              <a:rPr lang="en-US" altLang="en-US" sz="3700" dirty="0">
                <a:sym typeface="Gill Sans" charset="0"/>
              </a:rPr>
              <a:t>course starts w/ easy problems, then harder</a:t>
            </a:r>
          </a:p>
          <a:p>
            <a:pPr marL="1778000" lvl="2" eaLnBrk="1" hangingPunct="1">
              <a:spcBef>
                <a:spcPct val="0"/>
              </a:spcBef>
              <a:defRPr/>
            </a:pPr>
            <a:r>
              <a:rPr lang="en-US" altLang="en-US" sz="3700" dirty="0">
                <a:sym typeface="Gill Sans" charset="0"/>
              </a:rPr>
              <a:t>a program to produce twice the given number (Tuesday) </a:t>
            </a:r>
          </a:p>
          <a:p>
            <a:pPr marL="1778000" lvl="2" eaLnBrk="1" hangingPunct="1">
              <a:spcBef>
                <a:spcPct val="0"/>
              </a:spcBef>
              <a:buFont typeface="Gill Sans" charset="0"/>
              <a:buChar char="•"/>
              <a:defRPr/>
            </a:pPr>
            <a:r>
              <a:rPr lang="en-US" altLang="en-US" sz="3700" dirty="0">
                <a:sym typeface="Gill Sans" charset="0"/>
              </a:rPr>
              <a:t>a program to schedule 110 lab TAs (near end of the course)</a:t>
            </a:r>
            <a:endParaRPr lang="en-US" altLang="x-none" sz="4000" dirty="0">
              <a:sym typeface="Gill Sans" charset="0"/>
            </a:endParaRPr>
          </a:p>
          <a:p>
            <a:pPr marL="889000" eaLnBrk="1" hangingPunct="1">
              <a:spcBef>
                <a:spcPct val="0"/>
              </a:spcBef>
              <a:buFont typeface="Gill Sans" charset="0"/>
              <a:buChar char="•"/>
              <a:defRPr/>
            </a:pPr>
            <a:endParaRPr lang="en-US" altLang="x-none" sz="4000" dirty="0">
              <a:sym typeface="Gill Sans" charset="0"/>
            </a:endParaRPr>
          </a:p>
          <a:p>
            <a:pPr marL="889000" eaLnBrk="1" hangingPunct="1">
              <a:spcBef>
                <a:spcPct val="0"/>
              </a:spcBef>
              <a:buFont typeface="Gill Sans" charset="0"/>
              <a:buChar char="•"/>
              <a:defRPr/>
            </a:pPr>
            <a:r>
              <a:rPr lang="en-US" altLang="x-none" sz="4000" dirty="0">
                <a:sym typeface="Gill Sans" charset="0"/>
              </a:rPr>
              <a:t>The content and pace get more difficult as we go</a:t>
            </a:r>
          </a:p>
        </p:txBody>
      </p:sp>
      <p:sp>
        <p:nvSpPr>
          <p:cNvPr id="2" name="Circular Arrow 1">
            <a:extLst>
              <a:ext uri="{FF2B5EF4-FFF2-40B4-BE49-F238E27FC236}">
                <a16:creationId xmlns:a16="http://schemas.microsoft.com/office/drawing/2014/main" id="{B7CE0CDE-87B4-F644-9010-93175BF56305}"/>
              </a:ext>
            </a:extLst>
          </p:cNvPr>
          <p:cNvSpPr/>
          <p:nvPr/>
        </p:nvSpPr>
        <p:spPr bwMode="auto">
          <a:xfrm>
            <a:off x="423144" y="1979712"/>
            <a:ext cx="1656184" cy="1872208"/>
          </a:xfrm>
          <a:prstGeom prst="circularArrow">
            <a:avLst>
              <a:gd name="adj1" fmla="val 5581"/>
              <a:gd name="adj2" fmla="val 1142319"/>
              <a:gd name="adj3" fmla="val 8710061"/>
              <a:gd name="adj4" fmla="val 10800000"/>
              <a:gd name="adj5" fmla="val 125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07396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Picture 5">
            <a:extLst>
              <a:ext uri="{FF2B5EF4-FFF2-40B4-BE49-F238E27FC236}">
                <a16:creationId xmlns:a16="http://schemas.microsoft.com/office/drawing/2014/main" id="{15CBAB62-1839-404B-A557-44364FB62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363" y="0"/>
            <a:ext cx="13225462" cy="914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C26D9-FBAD-5B44-93D5-2AF479061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600">
                <a:sym typeface="Gill Sans" charset="0"/>
              </a:rPr>
              <a:t>Beginning Student Language (BSL)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96F2C-F921-6C4D-8C99-5CC606DD6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500" y="2590800"/>
            <a:ext cx="13081000" cy="5359400"/>
          </a:xfrm>
        </p:spPr>
        <p:txBody>
          <a:bodyPr/>
          <a:lstStyle/>
          <a:p>
            <a:pPr>
              <a:buFont typeface="Gill Sans" charset="0"/>
              <a:buChar char="•"/>
              <a:defRPr/>
            </a:pPr>
            <a:r>
              <a:rPr lang="en-US" sz="3200" dirty="0">
                <a:sym typeface="Gill Sans" charset="0"/>
              </a:rPr>
              <a:t>Programs are written in different languages</a:t>
            </a:r>
          </a:p>
          <a:p>
            <a:pPr lvl="1">
              <a:buFont typeface="Gill Sans" charset="0"/>
              <a:buChar char="•"/>
              <a:defRPr/>
            </a:pPr>
            <a:r>
              <a:rPr lang="en-US" sz="3200" dirty="0">
                <a:sym typeface="Gill Sans" charset="0"/>
              </a:rPr>
              <a:t>There are 10s of thousands of languages; thousands in active use. Hundreds are popular.</a:t>
            </a:r>
          </a:p>
          <a:p>
            <a:pPr lvl="1">
              <a:buFont typeface="Gill Sans" charset="0"/>
              <a:buChar char="•"/>
              <a:defRPr/>
            </a:pPr>
            <a:r>
              <a:rPr lang="en-US" sz="3200" dirty="0">
                <a:sym typeface="Gill Sans" charset="0"/>
              </a:rPr>
              <a:t>No one language is the most useful, best etc.</a:t>
            </a:r>
          </a:p>
          <a:p>
            <a:pPr>
              <a:buFont typeface="Gill Sans" charset="0"/>
              <a:buChar char="•"/>
              <a:defRPr/>
            </a:pPr>
            <a:r>
              <a:rPr lang="en-US" sz="3200" dirty="0">
                <a:sym typeface="Gill Sans" charset="0"/>
              </a:rPr>
              <a:t>BSL is the core of most other languages (lambda calculus)</a:t>
            </a:r>
          </a:p>
          <a:p>
            <a:pPr lvl="1">
              <a:buFont typeface="Gill Sans" charset="0"/>
              <a:buChar char="•"/>
              <a:defRPr/>
            </a:pPr>
            <a:r>
              <a:rPr lang="en-US" sz="3200" dirty="0">
                <a:sym typeface="Gill Sans" charset="0"/>
              </a:rPr>
              <a:t>allows us to focus on learning systematic program design</a:t>
            </a:r>
          </a:p>
          <a:p>
            <a:pPr lvl="1">
              <a:buFont typeface="Gill Sans" charset="0"/>
              <a:buChar char="•"/>
              <a:defRPr/>
            </a:pPr>
            <a:r>
              <a:rPr lang="en-US" sz="3200" dirty="0">
                <a:sym typeface="Gill Sans" charset="0"/>
              </a:rPr>
              <a:t>prepares you for learning other languages quickly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sym typeface="Gill Sans" charset="0"/>
              </a:rPr>
              <a:t>never say a university course taught a language</a:t>
            </a:r>
          </a:p>
          <a:p>
            <a:pPr>
              <a:buFont typeface="Gill Sans" charset="0"/>
              <a:buChar char="•"/>
              <a:defRPr/>
            </a:pPr>
            <a:r>
              <a:rPr lang="en-US" sz="3200" dirty="0">
                <a:sym typeface="Gill Sans" charset="0"/>
              </a:rPr>
              <a:t>Puts all students on level playing field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>
            <a:extLst>
              <a:ext uri="{FF2B5EF4-FFF2-40B4-BE49-F238E27FC236}">
                <a16:creationId xmlns:a16="http://schemas.microsoft.com/office/drawing/2014/main" id="{52FD1A01-CCF5-304A-8A0E-B0700B37FB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4038" y="790575"/>
            <a:ext cx="15147925" cy="1019175"/>
          </a:xfrm>
        </p:spPr>
        <p:txBody>
          <a:bodyPr/>
          <a:lstStyle/>
          <a:p>
            <a:pPr>
              <a:defRPr/>
            </a:pPr>
            <a:r>
              <a:rPr lang="en-CA"/>
              <a:t>Software Design is</a:t>
            </a:r>
            <a:endParaRPr lang="en-CA" dirty="0"/>
          </a:p>
        </p:txBody>
      </p:sp>
      <p:sp>
        <p:nvSpPr>
          <p:cNvPr id="126" name="Shape 126">
            <a:extLst>
              <a:ext uri="{FF2B5EF4-FFF2-40B4-BE49-F238E27FC236}">
                <a16:creationId xmlns:a16="http://schemas.microsoft.com/office/drawing/2014/main" id="{C02007CC-FD20-5E4B-9BD3-3C91F06879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4038" y="2049463"/>
            <a:ext cx="15147925" cy="6073775"/>
          </a:xfrm>
        </p:spPr>
        <p:txBody>
          <a:bodyPr/>
          <a:lstStyle/>
          <a:p>
            <a:pPr>
              <a:defRPr/>
            </a:pPr>
            <a:r>
              <a:rPr lang="en-CA" dirty="0"/>
              <a:t>The situated selection and use of:</a:t>
            </a:r>
          </a:p>
          <a:p>
            <a:pPr lvl="1">
              <a:defRPr/>
            </a:pPr>
            <a:r>
              <a:rPr lang="en-CA" dirty="0"/>
              <a:t>Design techniques</a:t>
            </a:r>
          </a:p>
          <a:p>
            <a:pPr lvl="1">
              <a:defRPr/>
            </a:pPr>
            <a:r>
              <a:rPr lang="en-CA" dirty="0"/>
              <a:t>Science and engineering expertise</a:t>
            </a:r>
          </a:p>
          <a:p>
            <a:pPr lvl="1">
              <a:defRPr/>
            </a:pPr>
            <a:r>
              <a:rPr lang="en-CA" dirty="0"/>
              <a:t>Tool skills</a:t>
            </a:r>
          </a:p>
          <a:p>
            <a:pPr lvl="1">
              <a:defRPr/>
            </a:pPr>
            <a:r>
              <a:rPr lang="en-CA" dirty="0"/>
              <a:t>Team skills</a:t>
            </a:r>
          </a:p>
          <a:p>
            <a:pPr lvl="1">
              <a:defRPr/>
            </a:pPr>
            <a:endParaRPr lang="en-CA" dirty="0"/>
          </a:p>
          <a:p>
            <a:pPr>
              <a:defRPr/>
            </a:pPr>
            <a:endParaRPr lang="en-CA" dirty="0"/>
          </a:p>
          <a:p>
            <a:pPr>
              <a:defRPr/>
            </a:pPr>
            <a:endParaRPr lang="en-CA" dirty="0"/>
          </a:p>
        </p:txBody>
      </p:sp>
      <p:sp>
        <p:nvSpPr>
          <p:cNvPr id="34819" name="TextBox 1">
            <a:extLst>
              <a:ext uri="{FF2B5EF4-FFF2-40B4-BE49-F238E27FC236}">
                <a16:creationId xmlns:a16="http://schemas.microsoft.com/office/drawing/2014/main" id="{3A2B7130-9E86-3E45-8526-518AA7699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0342" y="772319"/>
            <a:ext cx="5864225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>
              <a:defRPr sz="3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>
              <a:defRPr sz="3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>
              <a:defRPr sz="3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>
              <a:defRPr sz="3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r>
              <a:rPr lang="en-US" altLang="en-US" sz="4000" dirty="0">
                <a:solidFill>
                  <a:srgbClr val="FF0000"/>
                </a:solidFill>
                <a:latin typeface="Chalkboard" panose="03050602040202020205" pitchFamily="66" charset="77"/>
              </a:rPr>
              <a:t>Situated means we need to be able to use the right skill, in the right way, at the right time.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708945-457E-594F-A767-8B4189F8E644}"/>
              </a:ext>
            </a:extLst>
          </p:cNvPr>
          <p:cNvCxnSpPr/>
          <p:nvPr/>
        </p:nvCxnSpPr>
        <p:spPr bwMode="auto">
          <a:xfrm>
            <a:off x="2366963" y="2670175"/>
            <a:ext cx="1512887" cy="0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7" name="TextBox 1">
            <a:extLst>
              <a:ext uri="{FF2B5EF4-FFF2-40B4-BE49-F238E27FC236}">
                <a16:creationId xmlns:a16="http://schemas.microsoft.com/office/drawing/2014/main" id="{0ADE4424-6DB1-4949-B708-BF73947DB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18185" y="4447778"/>
            <a:ext cx="5864225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1pPr>
            <a:lvl2pPr marL="742950" indent="-285750">
              <a:defRPr sz="3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2pPr>
            <a:lvl3pPr marL="1143000" indent="-228600">
              <a:defRPr sz="3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3pPr>
            <a:lvl4pPr marL="1600200" indent="-228600">
              <a:defRPr sz="3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4pPr>
            <a:lvl5pPr marL="2057400" indent="-228600">
              <a:defRPr sz="3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sym typeface="Gill Sans" panose="020B0502020104020203" pitchFamily="34" charset="-79"/>
              </a:defRPr>
            </a:lvl9pPr>
          </a:lstStyle>
          <a:p>
            <a:r>
              <a:rPr lang="en-US" altLang="en-US" sz="4000" dirty="0">
                <a:solidFill>
                  <a:srgbClr val="FF0000"/>
                </a:solidFill>
                <a:latin typeface="Chalkboard" panose="03050602040202020205" pitchFamily="66" charset="77"/>
              </a:rPr>
              <a:t>Lecture and labs are based on situated learning.  You work on solving a problem, we help you learn how to solve it.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C03EA-355F-AA4A-8786-068A2CC6F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by solving design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2AE4A-BF0A-F645-A7F0-EE81DB8E4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134" y="2048844"/>
            <a:ext cx="15494746" cy="6073600"/>
          </a:xfrm>
        </p:spPr>
        <p:txBody>
          <a:bodyPr/>
          <a:lstStyle/>
          <a:p>
            <a:r>
              <a:rPr lang="en-US" sz="3200" dirty="0"/>
              <a:t>In lecture/lab/problem-sets/homework you will be</a:t>
            </a:r>
            <a:br>
              <a:rPr lang="en-US" sz="3200" dirty="0"/>
            </a:br>
            <a:r>
              <a:rPr lang="en-US" sz="3200" dirty="0"/>
              <a:t>working through program design problems</a:t>
            </a:r>
          </a:p>
          <a:p>
            <a:pPr lvl="1"/>
            <a:r>
              <a:rPr lang="en-US" sz="3200" dirty="0"/>
              <a:t>The goal is NOT to simply </a:t>
            </a:r>
            <a:r>
              <a:rPr lang="en-US" sz="3200" dirty="0" err="1"/>
              <a:t>handin</a:t>
            </a:r>
            <a:r>
              <a:rPr lang="en-US" sz="3200" dirty="0"/>
              <a:t> a working solution to the problems.</a:t>
            </a:r>
          </a:p>
          <a:p>
            <a:pPr lvl="1"/>
            <a:r>
              <a:rPr lang="en-US" sz="3200" dirty="0"/>
              <a:t>It is to learn to solve the problem on your own.</a:t>
            </a:r>
          </a:p>
          <a:p>
            <a:pPr lvl="1"/>
            <a:r>
              <a:rPr lang="en-US" sz="3200" dirty="0"/>
              <a:t>If we help you too much, if you look at the solution too soon, if you get help from a friend,  then you won’t learn how to solve them on your own.</a:t>
            </a:r>
          </a:p>
          <a:p>
            <a:pPr lvl="1"/>
            <a:r>
              <a:rPr lang="en-US" sz="3200" u="sng" dirty="0"/>
              <a:t>It will be difficult, you will get stuck, your head will hurt – that’s called learning.</a:t>
            </a:r>
          </a:p>
          <a:p>
            <a:pPr lvl="1"/>
            <a:r>
              <a:rPr lang="en-US" sz="3200" dirty="0"/>
              <a:t>Watching your friend lift weights doesn’t make you stronger.</a:t>
            </a:r>
          </a:p>
        </p:txBody>
      </p:sp>
    </p:spTree>
    <p:extLst>
      <p:ext uri="{BB962C8B-B14F-4D97-AF65-F5344CB8AC3E}">
        <p14:creationId xmlns:p14="http://schemas.microsoft.com/office/powerpoint/2010/main" val="3220795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C555A-A934-6C46-E906-7923D8B7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38" y="241300"/>
            <a:ext cx="13970098" cy="1522413"/>
          </a:xfrm>
        </p:spPr>
        <p:txBody>
          <a:bodyPr/>
          <a:lstStyle/>
          <a:p>
            <a:r>
              <a:rPr lang="en-US" dirty="0"/>
              <a:t>Academic Misconduct (Cheating)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C10F8-9206-D276-C324-B127B5B0F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500" y="2590800"/>
            <a:ext cx="13813308" cy="5359400"/>
          </a:xfrm>
        </p:spPr>
        <p:txBody>
          <a:bodyPr/>
          <a:lstStyle/>
          <a:p>
            <a:r>
              <a:rPr lang="en-US" dirty="0"/>
              <a:t>Cheating is stealing from other students and we won’t tolerate it.</a:t>
            </a:r>
          </a:p>
          <a:p>
            <a:r>
              <a:rPr lang="en-US" dirty="0"/>
              <a:t>Zoom poll right now!</a:t>
            </a:r>
            <a:br>
              <a:rPr lang="en-US" dirty="0"/>
            </a:br>
            <a:endParaRPr lang="en-US" dirty="0"/>
          </a:p>
          <a:p>
            <a:pPr marL="1454150" lvl="1" indent="-742950">
              <a:buFont typeface="+mj-lt"/>
              <a:buAutoNum type="alphaUcPeriod"/>
            </a:pPr>
            <a:r>
              <a:rPr lang="en-US" dirty="0"/>
              <a:t> I have already read and understood the syllabus and I know the rules of academic conduct in this course.</a:t>
            </a:r>
          </a:p>
          <a:p>
            <a:pPr marL="1454150" lvl="1" indent="-742950">
              <a:buFont typeface="+mj-lt"/>
              <a:buAutoNum type="alphaUcPeriod"/>
            </a:pPr>
            <a:r>
              <a:rPr lang="en-US" dirty="0"/>
              <a:t> I will read the syllabus carefully tonight, learn the rules, and if I have any questions will ask on Piazza.</a:t>
            </a:r>
          </a:p>
          <a:p>
            <a:pPr marL="1454150" lvl="1" indent="-742950">
              <a:buFont typeface="+mj-lt"/>
              <a:buAutoNum type="alphaUcPeriod"/>
            </a:pPr>
            <a:r>
              <a:rPr lang="en-US" dirty="0"/>
              <a:t> I will not check the syllabus, so I will risk breaking the rules – I know that not knowing the rules is not an excuse, so I could get into real trouble this way.</a:t>
            </a:r>
          </a:p>
        </p:txBody>
      </p:sp>
    </p:spTree>
    <p:extLst>
      <p:ext uri="{BB962C8B-B14F-4D97-AF65-F5344CB8AC3E}">
        <p14:creationId xmlns:p14="http://schemas.microsoft.com/office/powerpoint/2010/main" val="289471822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>
            <a:extLst>
              <a:ext uri="{FF2B5EF4-FFF2-40B4-BE49-F238E27FC236}">
                <a16:creationId xmlns:a16="http://schemas.microsoft.com/office/drawing/2014/main" id="{4B5F459A-9219-0D42-BE40-40D3190DD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6000" dirty="0">
                <a:sym typeface="Gill Sans" charset="0"/>
              </a:rPr>
              <a:t>Course Components - Lecture</a:t>
            </a: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CEDC6714-E76C-1E4E-9A0C-0DF2844D4E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87500" y="2957513"/>
            <a:ext cx="14668500" cy="5359400"/>
          </a:xfrm>
        </p:spPr>
        <p:txBody>
          <a:bodyPr/>
          <a:lstStyle/>
          <a:p>
            <a:pPr>
              <a:buFont typeface="Gill Sans" charset="0"/>
              <a:buChar char="•"/>
              <a:defRPr/>
            </a:pPr>
            <a:r>
              <a:rPr lang="en-US" altLang="x-none" sz="3200" dirty="0">
                <a:sym typeface="Gill Sans" charset="0"/>
              </a:rPr>
              <a:t>Before lecture you will work through videos and problems on </a:t>
            </a:r>
            <a:r>
              <a:rPr lang="en-US" altLang="x-none" sz="3200" dirty="0" err="1">
                <a:sym typeface="Gill Sans" charset="0"/>
              </a:rPr>
              <a:t>edge.edx.org</a:t>
            </a:r>
            <a:endParaRPr lang="en-US" altLang="x-none" sz="3200" dirty="0">
              <a:sym typeface="Gill Sans" charset="0"/>
            </a:endParaRPr>
          </a:p>
          <a:p>
            <a:pPr lvl="1">
              <a:buFont typeface="Gill Sans" charset="0"/>
              <a:buChar char="•"/>
              <a:defRPr/>
            </a:pPr>
            <a:r>
              <a:rPr lang="en-US" altLang="x-none" sz="3200" dirty="0">
                <a:sym typeface="Gill Sans" charset="0"/>
              </a:rPr>
              <a:t>10% of course grade is </a:t>
            </a:r>
            <a:r>
              <a:rPr lang="en-US" altLang="x-none" sz="3200" dirty="0" err="1">
                <a:sym typeface="Gill Sans" charset="0"/>
              </a:rPr>
              <a:t>iClicker</a:t>
            </a:r>
            <a:r>
              <a:rPr lang="en-US" altLang="x-none" sz="3200" dirty="0">
                <a:sym typeface="Gill Sans" charset="0"/>
              </a:rPr>
              <a:t> questions based on this material</a:t>
            </a:r>
          </a:p>
          <a:p>
            <a:pPr>
              <a:buFont typeface="Gill Sans" charset="0"/>
              <a:buChar char="•"/>
              <a:defRPr/>
            </a:pPr>
            <a:r>
              <a:rPr lang="en-US" altLang="x-none" sz="3200" dirty="0">
                <a:sym typeface="Gill Sans" charset="0"/>
              </a:rPr>
              <a:t>Lecture will mix presentation of new material with you working on problems</a:t>
            </a:r>
          </a:p>
          <a:p>
            <a:pPr lvl="1">
              <a:buFont typeface="Gill Sans" charset="0"/>
              <a:buChar char="•"/>
              <a:defRPr/>
            </a:pPr>
            <a:r>
              <a:rPr lang="en-US" altLang="x-none" sz="3200" dirty="0">
                <a:sym typeface="Gill Sans" charset="0"/>
              </a:rPr>
              <a:t>“priming” enables situated learning of new topics</a:t>
            </a:r>
          </a:p>
          <a:p>
            <a:pPr lvl="1">
              <a:buFont typeface="Gill Sans" charset="0"/>
              <a:buChar char="•"/>
              <a:defRPr/>
            </a:pPr>
            <a:r>
              <a:rPr lang="en-US" altLang="x-none" sz="3200" dirty="0">
                <a:sym typeface="Gill Sans" charset="0"/>
              </a:rPr>
              <a:t>expect lecture to be difficult and tiring – experience doing real design</a:t>
            </a:r>
          </a:p>
          <a:p>
            <a:pPr>
              <a:buFont typeface="Gill Sans" charset="0"/>
              <a:buChar char="•"/>
              <a:defRPr/>
            </a:pPr>
            <a:r>
              <a:rPr lang="en-US" altLang="x-none" sz="3200" dirty="0">
                <a:sym typeface="Gill Sans" charset="0"/>
              </a:rPr>
              <a:t>After lecture you will review material from lecture and work through</a:t>
            </a:r>
            <a:br>
              <a:rPr lang="en-US" altLang="x-none" sz="3200" dirty="0">
                <a:sym typeface="Gill Sans" charset="0"/>
              </a:rPr>
            </a:br>
            <a:r>
              <a:rPr lang="en-US" altLang="x-none" sz="3200" dirty="0">
                <a:sym typeface="Gill Sans" charset="0"/>
              </a:rPr>
              <a:t>additional videos and problems on edge.edx.org</a:t>
            </a:r>
          </a:p>
          <a:p>
            <a:pPr>
              <a:buFont typeface="Gill Sans" charset="0"/>
              <a:buChar char="•"/>
              <a:defRPr/>
            </a:pPr>
            <a:endParaRPr lang="en-US" altLang="en-US" sz="3200" dirty="0">
              <a:sym typeface="Gill Sans" charset="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>
            <a:extLst>
              <a:ext uri="{FF2B5EF4-FFF2-40B4-BE49-F238E27FC236}">
                <a16:creationId xmlns:a16="http://schemas.microsoft.com/office/drawing/2014/main" id="{4B5F459A-9219-0D42-BE40-40D3190DD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6000" dirty="0">
                <a:sym typeface="Gill Sans" charset="0"/>
              </a:rPr>
              <a:t>Course Components – Lecture Starters</a:t>
            </a: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CEDC6714-E76C-1E4E-9A0C-0DF2844D4E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87500" y="2590800"/>
            <a:ext cx="14461380" cy="5359400"/>
          </a:xfrm>
        </p:spPr>
        <p:txBody>
          <a:bodyPr/>
          <a:lstStyle/>
          <a:p>
            <a:r>
              <a:rPr lang="en-CA" dirty="0"/>
              <a:t>Working in DrRacket on in-class lecture problems</a:t>
            </a:r>
          </a:p>
          <a:p>
            <a:pPr lvl="1"/>
            <a:r>
              <a:rPr lang="en-CA" dirty="0"/>
              <a:t>work during lecture</a:t>
            </a:r>
          </a:p>
          <a:p>
            <a:pPr lvl="1"/>
            <a:r>
              <a:rPr lang="en-CA" dirty="0"/>
              <a:t>submit several times for each problem</a:t>
            </a:r>
          </a:p>
          <a:p>
            <a:pPr lvl="1"/>
            <a:r>
              <a:rPr lang="en-CA" dirty="0"/>
              <a:t>you submit to autograder to get feedback</a:t>
            </a:r>
          </a:p>
          <a:p>
            <a:pPr lvl="2"/>
            <a:r>
              <a:rPr lang="en-CA" dirty="0"/>
              <a:t>based on whether you are working systematically</a:t>
            </a:r>
          </a:p>
          <a:p>
            <a:pPr lvl="2"/>
            <a:r>
              <a:rPr lang="en-CA" dirty="0"/>
              <a:t>can submit as often as you like (within reason)</a:t>
            </a:r>
          </a:p>
          <a:p>
            <a:pPr lvl="2"/>
            <a:r>
              <a:rPr lang="en-CA" dirty="0"/>
              <a:t>this is formative assessment (lecture starter grades don’t count)</a:t>
            </a:r>
          </a:p>
        </p:txBody>
      </p:sp>
    </p:spTree>
    <p:extLst>
      <p:ext uri="{BB962C8B-B14F-4D97-AF65-F5344CB8AC3E}">
        <p14:creationId xmlns:p14="http://schemas.microsoft.com/office/powerpoint/2010/main" val="303320581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>
            <a:extLst>
              <a:ext uri="{FF2B5EF4-FFF2-40B4-BE49-F238E27FC236}">
                <a16:creationId xmlns:a16="http://schemas.microsoft.com/office/drawing/2014/main" id="{4B5F459A-9219-0D42-BE40-40D3190DD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6000" dirty="0">
                <a:sym typeface="Gill Sans" charset="0"/>
              </a:rPr>
              <a:t>Course Components - Labs</a:t>
            </a: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CEDC6714-E76C-1E4E-9A0C-0DF2844D4E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87500" y="2957513"/>
            <a:ext cx="13957300" cy="5359400"/>
          </a:xfrm>
        </p:spPr>
        <p:txBody>
          <a:bodyPr/>
          <a:lstStyle/>
          <a:p>
            <a:pPr>
              <a:buFont typeface="Gill Sans" charset="0"/>
              <a:buChar char="•"/>
              <a:defRPr/>
            </a:pPr>
            <a:r>
              <a:rPr lang="en-US" altLang="x-none" sz="3200" dirty="0">
                <a:sym typeface="Gill Sans" charset="0"/>
              </a:rPr>
              <a:t>Designing programs to solve more challenging problems</a:t>
            </a:r>
          </a:p>
          <a:p>
            <a:pPr>
              <a:buFont typeface="Gill Sans" charset="0"/>
              <a:buChar char="•"/>
              <a:defRPr/>
            </a:pPr>
            <a:r>
              <a:rPr lang="en-US" altLang="x-none" sz="3200" dirty="0">
                <a:sym typeface="Gill Sans" charset="0"/>
              </a:rPr>
              <a:t>Lab number n covers lecture module n; so does problem set n</a:t>
            </a:r>
          </a:p>
          <a:p>
            <a:pPr>
              <a:buFont typeface="Gill Sans" charset="0"/>
              <a:buChar char="•"/>
              <a:defRPr/>
            </a:pPr>
            <a:r>
              <a:rPr lang="en-US" altLang="x-none" sz="3200" dirty="0">
                <a:sym typeface="Gill Sans" charset="0"/>
              </a:rPr>
              <a:t>Answering design review questions from TAs</a:t>
            </a:r>
          </a:p>
          <a:p>
            <a:pPr lvl="1">
              <a:buFont typeface="Gill Sans" charset="0"/>
              <a:buChar char="•"/>
              <a:defRPr/>
            </a:pPr>
            <a:r>
              <a:rPr lang="en-US" altLang="x-none" sz="3200" dirty="0">
                <a:sym typeface="Gill Sans" charset="0"/>
              </a:rPr>
              <a:t>about your lab work</a:t>
            </a:r>
          </a:p>
          <a:p>
            <a:pPr lvl="1">
              <a:buFont typeface="Gill Sans" charset="0"/>
              <a:buChar char="•"/>
              <a:defRPr/>
            </a:pPr>
            <a:r>
              <a:rPr lang="en-US" altLang="x-none" sz="3200" dirty="0">
                <a:sym typeface="Gill Sans" charset="0"/>
              </a:rPr>
              <a:t>about the prior week’s problem set</a:t>
            </a:r>
          </a:p>
        </p:txBody>
      </p:sp>
    </p:spTree>
    <p:extLst>
      <p:ext uri="{BB962C8B-B14F-4D97-AF65-F5344CB8AC3E}">
        <p14:creationId xmlns:p14="http://schemas.microsoft.com/office/powerpoint/2010/main" val="252313156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>
            <a:extLst>
              <a:ext uri="{FF2B5EF4-FFF2-40B4-BE49-F238E27FC236}">
                <a16:creationId xmlns:a16="http://schemas.microsoft.com/office/drawing/2014/main" id="{4B5F459A-9219-0D42-BE40-40D3190DD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6000" dirty="0">
                <a:sym typeface="Gill Sans" charset="0"/>
              </a:rPr>
              <a:t>Course Components - Problem Sets</a:t>
            </a: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CEDC6714-E76C-1E4E-9A0C-0DF2844D4E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87500" y="2590800"/>
            <a:ext cx="14101340" cy="5359400"/>
          </a:xfrm>
        </p:spPr>
        <p:txBody>
          <a:bodyPr/>
          <a:lstStyle/>
          <a:p>
            <a:pPr>
              <a:buFont typeface="Gill Sans" charset="0"/>
              <a:buChar char="•"/>
              <a:defRPr/>
            </a:pPr>
            <a:r>
              <a:rPr lang="en-US" altLang="x-none" sz="2800" dirty="0">
                <a:sym typeface="Gill Sans" charset="0"/>
              </a:rPr>
              <a:t>Close out each module with a problem set that assesses your mastery of</a:t>
            </a:r>
            <a:br>
              <a:rPr lang="en-US" altLang="x-none" sz="2800" dirty="0">
                <a:sym typeface="Gill Sans" charset="0"/>
              </a:rPr>
            </a:br>
            <a:r>
              <a:rPr lang="en-US" altLang="x-none" sz="2800" dirty="0">
                <a:sym typeface="Gill Sans" charset="0"/>
              </a:rPr>
              <a:t>all the material to date</a:t>
            </a:r>
          </a:p>
          <a:p>
            <a:pPr>
              <a:buFont typeface="Gill Sans" charset="0"/>
              <a:buChar char="•"/>
              <a:defRPr/>
            </a:pPr>
            <a:r>
              <a:rPr lang="en-US" altLang="x-none" sz="2800" dirty="0">
                <a:sym typeface="Gill Sans" charset="0"/>
              </a:rPr>
              <a:t>THE PROBLEM SETS PREPARE  YOU FOR THE EXAMS</a:t>
            </a:r>
          </a:p>
          <a:p>
            <a:pPr>
              <a:buFont typeface="Gill Sans" charset="0"/>
              <a:buChar char="•"/>
              <a:defRPr/>
            </a:pPr>
            <a:r>
              <a:rPr lang="en-US" altLang="x-none" sz="2800" dirty="0">
                <a:sym typeface="Gill Sans" charset="0"/>
              </a:rPr>
              <a:t>Must be your own individual work</a:t>
            </a:r>
            <a:br>
              <a:rPr lang="en-US" altLang="x-none" sz="2800" dirty="0">
                <a:sym typeface="Gill Sans" charset="0"/>
              </a:rPr>
            </a:br>
            <a:br>
              <a:rPr lang="en-US" altLang="x-none" sz="2800" dirty="0">
                <a:sym typeface="Gill Sans" charset="0"/>
              </a:rPr>
            </a:br>
            <a:r>
              <a:rPr lang="en-US" altLang="x-none" sz="2800" b="1" dirty="0">
                <a:solidFill>
                  <a:srgbClr val="FF0000"/>
                </a:solidFill>
                <a:sym typeface="Gill Sans" charset="0"/>
              </a:rPr>
              <a:t>READ the Academic Integrity policy in the syllabus!</a:t>
            </a:r>
            <a:br>
              <a:rPr lang="en-US" altLang="x-none" sz="2800" b="1" dirty="0">
                <a:solidFill>
                  <a:srgbClr val="FF0000"/>
                </a:solidFill>
                <a:sym typeface="Gill Sans" charset="0"/>
              </a:rPr>
            </a:br>
            <a:r>
              <a:rPr lang="en-US" altLang="x-none" sz="2800" b="1" dirty="0">
                <a:solidFill>
                  <a:srgbClr val="FF0000"/>
                </a:solidFill>
                <a:sym typeface="Gill Sans" charset="0"/>
              </a:rPr>
              <a:t>Again, cheating is stealing from other students and we won’t tolerate it.</a:t>
            </a:r>
          </a:p>
          <a:p>
            <a:pPr>
              <a:buFont typeface="Gill Sans" charset="0"/>
              <a:buChar char="•"/>
              <a:defRPr/>
            </a:pPr>
            <a:r>
              <a:rPr lang="en-US" altLang="x-none" sz="2800" dirty="0">
                <a:sym typeface="Gill Sans" charset="0"/>
              </a:rPr>
              <a:t>Combined assessment:</a:t>
            </a:r>
          </a:p>
          <a:p>
            <a:pPr lvl="1">
              <a:buFont typeface="Gill Sans" charset="0"/>
              <a:buChar char="•"/>
              <a:defRPr/>
            </a:pPr>
            <a:r>
              <a:rPr lang="en-US" altLang="x-none" sz="2800" dirty="0">
                <a:sym typeface="Gill Sans" charset="0"/>
              </a:rPr>
              <a:t>automatic grading (autograder)</a:t>
            </a:r>
          </a:p>
          <a:p>
            <a:pPr lvl="1">
              <a:buFont typeface="Gill Sans" charset="0"/>
              <a:buChar char="•"/>
              <a:defRPr/>
            </a:pPr>
            <a:r>
              <a:rPr lang="en-US" altLang="x-none" sz="2800" dirty="0">
                <a:sym typeface="Gill Sans" charset="0"/>
              </a:rPr>
              <a:t>during lab a TA will ask you questions about how you designed the program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>
            <a:extLst>
              <a:ext uri="{FF2B5EF4-FFF2-40B4-BE49-F238E27FC236}">
                <a16:creationId xmlns:a16="http://schemas.microsoft.com/office/drawing/2014/main" id="{4B5F459A-9219-0D42-BE40-40D3190DD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6000" dirty="0">
                <a:sym typeface="Gill Sans" charset="0"/>
              </a:rPr>
              <a:t>Course Components - Other</a:t>
            </a: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CEDC6714-E76C-1E4E-9A0C-0DF2844D4E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87500" y="2590800"/>
            <a:ext cx="13957300" cy="5359400"/>
          </a:xfrm>
        </p:spPr>
        <p:txBody>
          <a:bodyPr/>
          <a:lstStyle/>
          <a:p>
            <a:pPr>
              <a:defRPr/>
            </a:pPr>
            <a:r>
              <a:rPr lang="en-US" altLang="x-none" sz="2800" dirty="0">
                <a:sym typeface="Gill Sans" charset="0"/>
              </a:rPr>
              <a:t>Office hours - instructor and TAs (See Piazza)</a:t>
            </a:r>
          </a:p>
          <a:p>
            <a:pPr>
              <a:defRPr/>
            </a:pPr>
            <a:r>
              <a:rPr lang="en-US" altLang="x-none" sz="2800" dirty="0">
                <a:sym typeface="Gill Sans" charset="0"/>
              </a:rPr>
              <a:t>Midterms and final</a:t>
            </a:r>
          </a:p>
          <a:p>
            <a:pPr lvl="1">
              <a:defRPr/>
            </a:pPr>
            <a:r>
              <a:rPr lang="en-US" altLang="x-none" sz="2800" dirty="0">
                <a:sym typeface="Gill Sans" charset="0"/>
              </a:rPr>
              <a:t>assessment of your mastery of systematic program design</a:t>
            </a:r>
          </a:p>
          <a:p>
            <a:pPr lvl="1">
              <a:defRPr/>
            </a:pPr>
            <a:r>
              <a:rPr lang="en-US" altLang="x-none" sz="2800" dirty="0">
                <a:sym typeface="Gill Sans" charset="0"/>
              </a:rPr>
              <a:t>on campus</a:t>
            </a:r>
          </a:p>
          <a:p>
            <a:pPr>
              <a:defRPr/>
            </a:pPr>
            <a:r>
              <a:rPr lang="en-US" altLang="x-none" sz="2800" dirty="0">
                <a:sym typeface="Gill Sans" charset="0"/>
              </a:rPr>
              <a:t>Unweighted average of all three exams must be &gt;= 50% to pass the course</a:t>
            </a:r>
            <a:br>
              <a:rPr lang="en-US" altLang="x-none" sz="2800" dirty="0">
                <a:sym typeface="Gill Sans" charset="0"/>
              </a:rPr>
            </a:br>
            <a:br>
              <a:rPr lang="en-US" altLang="x-none" sz="2800" dirty="0">
                <a:sym typeface="Gill Sans" charset="0"/>
              </a:rPr>
            </a:br>
            <a:r>
              <a:rPr lang="en-US" altLang="x-none" sz="2800" dirty="0">
                <a:sym typeface="Gill Sans" charset="0"/>
              </a:rPr>
              <a:t>(MT1-grade + MT2-grade + final-grade)/3  must be &gt;= 50%</a:t>
            </a:r>
          </a:p>
          <a:p>
            <a:pPr>
              <a:defRPr/>
            </a:pPr>
            <a:r>
              <a:rPr lang="en-US" altLang="x-none" sz="2800" dirty="0">
                <a:sym typeface="Gill Sans" charset="0"/>
              </a:rPr>
              <a:t>There is no textbook, everything you need is on </a:t>
            </a:r>
            <a:r>
              <a:rPr lang="en-US" altLang="x-none" sz="2800" dirty="0" err="1">
                <a:sym typeface="Gill Sans" charset="0"/>
              </a:rPr>
              <a:t>edge.edx.org</a:t>
            </a:r>
            <a:endParaRPr lang="en-US" altLang="x-none" sz="2800" dirty="0">
              <a:sym typeface="Gill Sans" charset="0"/>
            </a:endParaRPr>
          </a:p>
          <a:p>
            <a:pPr>
              <a:defRPr/>
            </a:pPr>
            <a:r>
              <a:rPr lang="en-CA" sz="2800" dirty="0">
                <a:hlinkClick r:id="rId2"/>
              </a:rPr>
              <a:t>https://cs110.students.cs.ubc.ca/admin/links.html</a:t>
            </a:r>
            <a:r>
              <a:rPr lang="en-CA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7518261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7B84E-C399-ED47-A1D3-9AA23D715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Scheme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CF76582-4343-7E46-AADE-4B334B070B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6175536"/>
              </p:ext>
            </p:extLst>
          </p:nvPr>
        </p:nvGraphicFramePr>
        <p:xfrm>
          <a:off x="1695239" y="1758813"/>
          <a:ext cx="12168399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4569">
                  <a:extLst>
                    <a:ext uri="{9D8B030D-6E8A-4147-A177-3AD203B41FA5}">
                      <a16:colId xmlns:a16="http://schemas.microsoft.com/office/drawing/2014/main" val="3732880930"/>
                    </a:ext>
                  </a:extLst>
                </a:gridCol>
                <a:gridCol w="7463830">
                  <a:extLst>
                    <a:ext uri="{9D8B030D-6E8A-4147-A177-3AD203B41FA5}">
                      <a16:colId xmlns:a16="http://schemas.microsoft.com/office/drawing/2014/main" val="2705991403"/>
                    </a:ext>
                  </a:extLst>
                </a:gridCol>
              </a:tblGrid>
              <a:tr h="464250">
                <a:tc>
                  <a:txBody>
                    <a:bodyPr/>
                    <a:lstStyle/>
                    <a:p>
                      <a:pPr fontAlgn="t"/>
                      <a:r>
                        <a:rPr lang="en-CA" sz="2400" dirty="0">
                          <a:effectLst/>
                        </a:rPr>
                        <a:t>Item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CA" sz="2400" dirty="0">
                          <a:effectLst/>
                        </a:rPr>
                        <a:t>% of total course grade</a:t>
                      </a:r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2465809779"/>
                  </a:ext>
                </a:extLst>
              </a:tr>
              <a:tr h="464250">
                <a:tc>
                  <a:txBody>
                    <a:bodyPr/>
                    <a:lstStyle/>
                    <a:p>
                      <a:pPr fontAlgn="t"/>
                      <a:r>
                        <a:rPr lang="en-CA" sz="2400" dirty="0">
                          <a:effectLst/>
                        </a:rPr>
                        <a:t>Problem Sets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CA" sz="2400" dirty="0">
                          <a:effectLst/>
                        </a:rPr>
                        <a:t>15%</a:t>
                      </a:r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2907687260"/>
                  </a:ext>
                </a:extLst>
              </a:tr>
              <a:tr h="464250">
                <a:tc>
                  <a:txBody>
                    <a:bodyPr/>
                    <a:lstStyle/>
                    <a:p>
                      <a:pPr fontAlgn="t"/>
                      <a:r>
                        <a:rPr lang="en-CA" sz="2400">
                          <a:effectLst/>
                        </a:rPr>
                        <a:t>Labs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CA" sz="2400" dirty="0">
                          <a:effectLst/>
                        </a:rPr>
                        <a:t>10%</a:t>
                      </a:r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252345309"/>
                  </a:ext>
                </a:extLst>
              </a:tr>
              <a:tr h="464250">
                <a:tc>
                  <a:txBody>
                    <a:bodyPr/>
                    <a:lstStyle/>
                    <a:p>
                      <a:pPr fontAlgn="t"/>
                      <a:r>
                        <a:rPr lang="en-CA" sz="2400" dirty="0">
                          <a:effectLst/>
                        </a:rPr>
                        <a:t>Lecture questions (usually at start)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CA" sz="2400" dirty="0">
                          <a:effectLst/>
                        </a:rPr>
                        <a:t>10%  </a:t>
                      </a:r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473922691"/>
                  </a:ext>
                </a:extLst>
              </a:tr>
              <a:tr h="738233">
                <a:tc>
                  <a:txBody>
                    <a:bodyPr/>
                    <a:lstStyle/>
                    <a:p>
                      <a:pPr fontAlgn="t"/>
                      <a:r>
                        <a:rPr lang="en-CA" sz="2400" dirty="0">
                          <a:effectLst/>
                        </a:rPr>
                        <a:t>edX questions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CA" sz="2400" dirty="0">
                          <a:effectLst/>
                        </a:rPr>
                        <a:t>0% - These are a good for your learning though, so do not skip them!</a:t>
                      </a:r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756361666"/>
                  </a:ext>
                </a:extLst>
              </a:tr>
              <a:tr h="464250">
                <a:tc>
                  <a:txBody>
                    <a:bodyPr/>
                    <a:lstStyle/>
                    <a:p>
                      <a:pPr fontAlgn="t"/>
                      <a:r>
                        <a:rPr lang="en-CA" sz="2400">
                          <a:effectLst/>
                        </a:rPr>
                        <a:t>Midterm 1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CA" sz="2400">
                          <a:effectLst/>
                        </a:rPr>
                        <a:t>15%</a:t>
                      </a:r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2953420397"/>
                  </a:ext>
                </a:extLst>
              </a:tr>
              <a:tr h="464250">
                <a:tc>
                  <a:txBody>
                    <a:bodyPr/>
                    <a:lstStyle/>
                    <a:p>
                      <a:pPr fontAlgn="t"/>
                      <a:r>
                        <a:rPr lang="en-CA" sz="2400">
                          <a:effectLst/>
                        </a:rPr>
                        <a:t>Midterm 2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CA" sz="2400" dirty="0">
                          <a:effectLst/>
                        </a:rPr>
                        <a:t>20%</a:t>
                      </a:r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1609177194"/>
                  </a:ext>
                </a:extLst>
              </a:tr>
              <a:tr h="464250">
                <a:tc>
                  <a:txBody>
                    <a:bodyPr/>
                    <a:lstStyle/>
                    <a:p>
                      <a:pPr fontAlgn="t"/>
                      <a:r>
                        <a:rPr lang="en-CA" sz="2400">
                          <a:effectLst/>
                        </a:rPr>
                        <a:t>Final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CA" sz="2400">
                          <a:effectLst/>
                        </a:rPr>
                        <a:t>30%</a:t>
                      </a:r>
                      <a:endParaRPr lang="en-CA" sz="2400" dirty="0">
                        <a:effectLst/>
                      </a:endParaRPr>
                    </a:p>
                  </a:txBody>
                  <a:tcPr marL="95250" marR="95250" marT="95250" marB="95250"/>
                </a:tc>
                <a:extLst>
                  <a:ext uri="{0D108BD9-81ED-4DB2-BD59-A6C34878D82A}">
                    <a16:rowId xmlns:a16="http://schemas.microsoft.com/office/drawing/2014/main" val="33226261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60B56D2-FEC0-BC48-8B61-A40E71CE835A}"/>
              </a:ext>
            </a:extLst>
          </p:cNvPr>
          <p:cNvSpPr txBox="1"/>
          <p:nvPr/>
        </p:nvSpPr>
        <p:spPr>
          <a:xfrm>
            <a:off x="782638" y="7164288"/>
            <a:ext cx="14906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see </a:t>
            </a:r>
            <a:r>
              <a:rPr lang="en-US" sz="3600" dirty="0">
                <a:hlinkClick r:id="rId2"/>
              </a:rPr>
              <a:t>https://cs110.students.cs.ubc.ca/admin/syllabus.html</a:t>
            </a:r>
            <a:r>
              <a:rPr lang="en-US" sz="3600" dirty="0"/>
              <a:t> for critical additional points</a:t>
            </a:r>
          </a:p>
        </p:txBody>
      </p:sp>
    </p:spTree>
    <p:extLst>
      <p:ext uri="{BB962C8B-B14F-4D97-AF65-F5344CB8AC3E}">
        <p14:creationId xmlns:p14="http://schemas.microsoft.com/office/powerpoint/2010/main" val="69558524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875CC-7AEB-4A48-8166-4016A9AED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38" y="241300"/>
            <a:ext cx="7345362" cy="1522413"/>
          </a:xfrm>
        </p:spPr>
        <p:txBody>
          <a:bodyPr/>
          <a:lstStyle/>
          <a:p>
            <a:r>
              <a:rPr lang="en-CA" dirty="0"/>
              <a:t>110 vs. 103+107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4AB91-E047-3845-93DE-B6FC348FB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500" y="2590800"/>
            <a:ext cx="14668500" cy="5359400"/>
          </a:xfrm>
        </p:spPr>
        <p:txBody>
          <a:bodyPr/>
          <a:lstStyle/>
          <a:p>
            <a:r>
              <a:rPr lang="en-CA" dirty="0"/>
              <a:t>110 is all of Systematic Program Design, in one term</a:t>
            </a:r>
          </a:p>
          <a:p>
            <a:pPr lvl="1"/>
            <a:r>
              <a:rPr lang="en-CA" sz="3200" dirty="0"/>
              <a:t>best and fastest foundation for being a major or taking CPSC 210 (Software Engineering in Java).</a:t>
            </a:r>
          </a:p>
          <a:p>
            <a:r>
              <a:rPr lang="en-CA" dirty="0"/>
              <a:t>103 is based on first 4-5 weeks of 110, working in Python</a:t>
            </a:r>
          </a:p>
          <a:p>
            <a:pPr lvl="1"/>
            <a:r>
              <a:rPr lang="en-CA" dirty="0"/>
              <a:t>103 is a non-major course, less rigour, less depth</a:t>
            </a:r>
          </a:p>
          <a:p>
            <a:pPr lvl="1"/>
            <a:r>
              <a:rPr lang="en-CA" dirty="0"/>
              <a:t>107 is the last 7 weeks of 110</a:t>
            </a:r>
          </a:p>
          <a:p>
            <a:pPr lvl="2"/>
            <a:r>
              <a:rPr lang="en-CA" sz="3600" dirty="0"/>
              <a:t>intended for 103 students who decide they want to major in CS</a:t>
            </a:r>
          </a:p>
          <a:p>
            <a:pPr lvl="2"/>
            <a:r>
              <a:rPr lang="en-CA" sz="3600" dirty="0"/>
              <a:t>in the teaching languages, using 110 edX modules.</a:t>
            </a:r>
          </a:p>
          <a:p>
            <a:pPr lvl="2"/>
            <a:r>
              <a:rPr lang="en-CA" sz="3600" dirty="0">
                <a:solidFill>
                  <a:srgbClr val="FF0000"/>
                </a:solidFill>
              </a:rPr>
              <a:t>107 students take the 110 final exam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875CC-7AEB-4A48-8166-4016A9AED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What it takes to do well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4AB91-E047-3845-93DE-B6FC348FB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Don’t need math, STEM, etc.</a:t>
            </a:r>
          </a:p>
          <a:p>
            <a:pPr>
              <a:defRPr/>
            </a:pPr>
            <a:r>
              <a:rPr lang="en-US" dirty="0"/>
              <a:t>Must have:</a:t>
            </a:r>
            <a:endParaRPr lang="en-US" u="sng" dirty="0"/>
          </a:p>
          <a:p>
            <a:pPr lvl="1">
              <a:defRPr/>
            </a:pPr>
            <a:r>
              <a:rPr lang="en-US" sz="3200" u="sng" dirty="0"/>
              <a:t>attention to detail</a:t>
            </a:r>
            <a:r>
              <a:rPr lang="en-US" sz="3200" dirty="0"/>
              <a:t> because a one character error can break a program</a:t>
            </a:r>
          </a:p>
          <a:p>
            <a:pPr lvl="1">
              <a:defRPr/>
            </a:pPr>
            <a:r>
              <a:rPr lang="en-US" sz="3200" u="sng" dirty="0"/>
              <a:t>patience</a:t>
            </a:r>
            <a:r>
              <a:rPr lang="en-US" sz="3200" dirty="0"/>
              <a:t> because it takes time to solve hard design problems</a:t>
            </a:r>
          </a:p>
          <a:p>
            <a:pPr lvl="1">
              <a:defRPr/>
            </a:pPr>
            <a:r>
              <a:rPr lang="en-US" sz="3200" u="sng" dirty="0"/>
              <a:t>humility</a:t>
            </a:r>
            <a:r>
              <a:rPr lang="en-US" sz="3200" dirty="0"/>
              <a:t> because simple looking problems can still be hard</a:t>
            </a:r>
            <a:endParaRPr lang="en-US" dirty="0"/>
          </a:p>
          <a:p>
            <a:pPr>
              <a:defRPr/>
            </a:pPr>
            <a:r>
              <a:rPr lang="en-US" dirty="0"/>
              <a:t>Many of you have attention to detail, patience, humility</a:t>
            </a:r>
          </a:p>
          <a:p>
            <a:pPr lvl="1">
              <a:defRPr/>
            </a:pPr>
            <a:r>
              <a:rPr lang="en-US" dirty="0"/>
              <a:t>athletes, musicians, gamers, artists,  …</a:t>
            </a:r>
          </a:p>
        </p:txBody>
      </p:sp>
    </p:spTree>
    <p:extLst>
      <p:ext uri="{BB962C8B-B14F-4D97-AF65-F5344CB8AC3E}">
        <p14:creationId xmlns:p14="http://schemas.microsoft.com/office/powerpoint/2010/main" val="2819580047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875CC-7AEB-4A48-8166-4016A9AED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Course Contract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4AB91-E047-3845-93DE-B6FC348FB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500" y="2590800"/>
            <a:ext cx="13885316" cy="5359400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Course staff will provide</a:t>
            </a:r>
          </a:p>
          <a:p>
            <a:pPr lvl="1">
              <a:defRPr/>
            </a:pPr>
            <a:r>
              <a:rPr lang="en-US" sz="2800" dirty="0"/>
              <a:t>state of the art content based on research and practice in programming and software engineering</a:t>
            </a:r>
          </a:p>
          <a:p>
            <a:pPr lvl="1">
              <a:defRPr/>
            </a:pPr>
            <a:r>
              <a:rPr lang="en-US" sz="2800" dirty="0"/>
              <a:t>delivered using state of the art pedagogy in active and online learning</a:t>
            </a:r>
          </a:p>
          <a:p>
            <a:pPr lvl="1">
              <a:defRPr/>
            </a:pPr>
            <a:r>
              <a:rPr lang="en-US" sz="2800" dirty="0"/>
              <a:t>supported by significant investment in materials and resources</a:t>
            </a:r>
          </a:p>
          <a:p>
            <a:pPr lvl="1">
              <a:defRPr/>
            </a:pPr>
            <a:r>
              <a:rPr lang="en-US" sz="2800" dirty="0"/>
              <a:t>50+ person team, extensive office hours, rapid response to questions on Piazza</a:t>
            </a:r>
          </a:p>
          <a:p>
            <a:pPr>
              <a:defRPr/>
            </a:pPr>
            <a:r>
              <a:rPr lang="en-US" sz="2800" dirty="0"/>
              <a:t>You will:</a:t>
            </a:r>
          </a:p>
          <a:p>
            <a:pPr lvl="1">
              <a:defRPr/>
            </a:pPr>
            <a:r>
              <a:rPr lang="en-US" sz="2800" dirty="0"/>
              <a:t>work hard (8 + hours/week outside of scheduled lab &amp; lecture times) and stay up to date – not get behind by even a day</a:t>
            </a:r>
          </a:p>
          <a:p>
            <a:pPr lvl="1">
              <a:defRPr/>
            </a:pPr>
            <a:r>
              <a:rPr lang="en-US" sz="2800" dirty="0"/>
              <a:t>trust the design recipes to get you to a solution</a:t>
            </a:r>
          </a:p>
          <a:p>
            <a:pPr lvl="1">
              <a:defRPr/>
            </a:pPr>
            <a:r>
              <a:rPr lang="en-US" sz="2800" dirty="0"/>
              <a:t>follow course rules of decorum and academic honesty</a:t>
            </a:r>
          </a:p>
        </p:txBody>
      </p:sp>
    </p:spTree>
    <p:extLst>
      <p:ext uri="{BB962C8B-B14F-4D97-AF65-F5344CB8AC3E}">
        <p14:creationId xmlns:p14="http://schemas.microsoft.com/office/powerpoint/2010/main" val="3717856259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875CC-7AEB-4A48-8166-4016A9AED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After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4AB91-E047-3845-93DE-B6FC348FB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>
                <a:hlinkClick r:id="rId3"/>
              </a:rPr>
              <a:t>https://cs110.students.cs.ubc.ca/admin/links.html</a:t>
            </a:r>
            <a:endParaRPr lang="en-CA" dirty="0">
              <a:hlinkClick r:id="rId4"/>
            </a:endParaRPr>
          </a:p>
          <a:p>
            <a:pPr lvl="1"/>
            <a:r>
              <a:rPr lang="en-CA" dirty="0"/>
              <a:t>do Setup</a:t>
            </a:r>
          </a:p>
          <a:p>
            <a:pPr lvl="1"/>
            <a:r>
              <a:rPr lang="en-CA" dirty="0"/>
              <a:t>read Syllabus</a:t>
            </a:r>
            <a:endParaRPr lang="en-CA" dirty="0">
              <a:hlinkClick r:id="rId4"/>
            </a:endParaRPr>
          </a:p>
          <a:p>
            <a:pPr lvl="1"/>
            <a:r>
              <a:rPr lang="en-CA" dirty="0"/>
              <a:t>lectures page, lecture 01</a:t>
            </a:r>
          </a:p>
        </p:txBody>
      </p:sp>
    </p:spTree>
    <p:extLst>
      <p:ext uri="{BB962C8B-B14F-4D97-AF65-F5344CB8AC3E}">
        <p14:creationId xmlns:p14="http://schemas.microsoft.com/office/powerpoint/2010/main" val="1349339416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tle &amp; Bullets">
  <a:themeElements>
    <a:clrScheme name="Title &amp; 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38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38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218113</TotalTime>
  <Pages>0</Pages>
  <Words>2192</Words>
  <Characters>0</Characters>
  <Application>Microsoft Macintosh PowerPoint</Application>
  <PresentationFormat>Custom</PresentationFormat>
  <Lines>0</Lines>
  <Paragraphs>266</Paragraphs>
  <Slides>33</Slides>
  <Notes>5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Chalkboard</vt:lpstr>
      <vt:lpstr>Gill Sans</vt:lpstr>
      <vt:lpstr>Lucida Grande</vt:lpstr>
      <vt:lpstr>Title &amp; Bullets</vt:lpstr>
      <vt:lpstr>While you wait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Who? (you)</vt:lpstr>
      <vt:lpstr>What?</vt:lpstr>
      <vt:lpstr>Key ideas (1/5)</vt:lpstr>
      <vt:lpstr>Key ideas (2/5)</vt:lpstr>
      <vt:lpstr>Key ideas (3/5)</vt:lpstr>
      <vt:lpstr>Key ideas (4/5)</vt:lpstr>
      <vt:lpstr>Key ideas (5/5)</vt:lpstr>
      <vt:lpstr>Systematic Program Design (SPD)</vt:lpstr>
      <vt:lpstr>What about ChatGPT (generative AI)?</vt:lpstr>
      <vt:lpstr>Basic course structure</vt:lpstr>
      <vt:lpstr>PowerPoint Presentation</vt:lpstr>
      <vt:lpstr>Beginning Student Language (BSL)</vt:lpstr>
      <vt:lpstr>Software Design is</vt:lpstr>
      <vt:lpstr>Learning by solving design problems</vt:lpstr>
      <vt:lpstr>Academic Misconduct (Cheating)</vt:lpstr>
      <vt:lpstr>Course Components - Lecture</vt:lpstr>
      <vt:lpstr>Course Components – Lecture Starters</vt:lpstr>
      <vt:lpstr>Course Components - Labs</vt:lpstr>
      <vt:lpstr>Course Components - Problem Sets</vt:lpstr>
      <vt:lpstr>Course Components - Other</vt:lpstr>
      <vt:lpstr>Grading Scheme</vt:lpstr>
      <vt:lpstr>110 vs. 103+107</vt:lpstr>
      <vt:lpstr>What it takes to do well</vt:lpstr>
      <vt:lpstr>Course Contract</vt:lpstr>
      <vt:lpstr>After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While you wait</dc:title>
  <dc:subject/>
  <dc:creator/>
  <cp:keywords/>
  <dc:description/>
  <cp:lastModifiedBy>Microsoft Office User</cp:lastModifiedBy>
  <cp:revision>217</cp:revision>
  <cp:lastPrinted>2024-09-05T15:52:21Z</cp:lastPrinted>
  <dcterms:modified xsi:type="dcterms:W3CDTF">2026-09-02T23:49:51Z</dcterms:modified>
</cp:coreProperties>
</file>